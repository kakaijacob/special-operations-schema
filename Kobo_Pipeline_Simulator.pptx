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12801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Kobo Tool Creator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063240"/>
            <a:ext cx="10515600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BFD3EC"/>
                </a:solidFill>
                <a:latin typeface="Calibri"/>
              </a:rPr>
              <a:t>Pipeline Simulator — one record,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389120"/>
            <a:ext cx="10515600" cy="1463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D8E3F2"/>
                </a:solidFill>
                <a:latin typeface="Calibri"/>
              </a:rPr>
              <a:t>Follow a single mentee from a trigger firing to a live Kobo form: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Sync  →  Generate  →  Build  →  Validate  →  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126480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FB6D6"/>
                </a:solidFill>
                <a:latin typeface="Calibri"/>
              </a:rPr>
              <a:t>Google Apps Script automation  •  refreshAllKoboTools()  •  eu.kobotoolbox.org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record we will simulate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56070"/>
                </a:solidFill>
                <a:latin typeface="Calibri"/>
              </a:rPr>
              <a:t>We follow one mentee, entered by hand exactly as the databases really receive data — messy.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5577840" cy="4480560"/>
          </a:xfrm>
          <a:prstGeom prst="roundRect">
            <a:avLst/>
          </a:prstGeom>
          <a:solidFill>
            <a:srgbClr val="EEF3FA"/>
          </a:solidFill>
          <a:ln w="19050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47088"/>
            <a:ext cx="521208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365D"/>
                </a:solidFill>
                <a:latin typeface="Calibri"/>
              </a:rPr>
              <a:t>RAW ROW — Mentee Database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77440"/>
            <a:ext cx="18288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56070"/>
                </a:solidFill>
                <a:latin typeface="Calibri"/>
              </a:rPr>
              <a:t>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377440"/>
            <a:ext cx="34290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833"/>
                </a:solidFill>
                <a:latin typeface="Consolas"/>
              </a:rPr>
              <a:t>  Grace  Hopper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62072"/>
            <a:ext cx="18288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56070"/>
                </a:solidFill>
                <a:latin typeface="Calibri"/>
              </a:rPr>
              <a:t>Mentee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862072"/>
            <a:ext cx="34290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833"/>
                </a:solidFill>
                <a:latin typeface="Consolas"/>
              </a:rPr>
              <a:t>+254 700 000 002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46704"/>
            <a:ext cx="18288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56070"/>
                </a:solidFill>
                <a:latin typeface="Calibri"/>
              </a:rPr>
              <a:t>County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346704"/>
            <a:ext cx="34290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833"/>
                </a:solidFill>
                <a:latin typeface="Consolas"/>
              </a:rPr>
              <a:t>Makueni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831336"/>
            <a:ext cx="18288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56070"/>
                </a:solidFill>
                <a:latin typeface="Calibri"/>
              </a:rPr>
              <a:t>Facility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831336"/>
            <a:ext cx="34290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833"/>
                </a:solidFill>
                <a:latin typeface="Consolas"/>
              </a:rPr>
              <a:t>Makueni County Refferal Hospital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315968"/>
            <a:ext cx="18288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56070"/>
                </a:solidFill>
                <a:latin typeface="Calibri"/>
              </a:rPr>
              <a:t>Facility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315968"/>
            <a:ext cx="34290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833"/>
                </a:solidFill>
                <a:latin typeface="Consolas"/>
              </a:rPr>
              <a:t>12457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800600"/>
            <a:ext cx="18288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56070"/>
                </a:solidFill>
                <a:latin typeface="Calibri"/>
              </a:rPr>
              <a:t>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800600"/>
            <a:ext cx="34290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833"/>
                </a:solidFill>
                <a:latin typeface="Consolas"/>
              </a:rPr>
              <a:t>newborn curriculum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285232"/>
            <a:ext cx="18288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56070"/>
                </a:solidFill>
                <a:latin typeface="Calibri"/>
              </a:rPr>
              <a:t>Status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5285232"/>
            <a:ext cx="3429000" cy="3840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833"/>
                </a:solidFill>
                <a:latin typeface="Consolas"/>
              </a:rPr>
              <a:t>Active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788152"/>
            <a:ext cx="521208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B57A00"/>
                </a:solidFill>
                <a:latin typeface="Calibri"/>
              </a:rPr>
              <a:t>+ an earlier Inactive row for the same person, and a MENTORS row for the same facility spelled “Referral”.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691640"/>
            <a:ext cx="539496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1847088"/>
            <a:ext cx="502920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365D"/>
                </a:solidFill>
                <a:latin typeface="Calibri"/>
              </a:rPr>
              <a:t>Why this row is a challenge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2423160"/>
            <a:ext cx="128016" cy="566928"/>
          </a:xfrm>
          <a:prstGeom prst="rect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386584"/>
            <a:ext cx="4754880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02833"/>
                </a:solidFill>
                <a:latin typeface="Calibri"/>
              </a:rPr>
              <a:t>Padded / prefixed ID — </a:t>
            </a:r>
            <a:r>
              <a:rPr sz="1250" b="0" i="0">
                <a:solidFill>
                  <a:srgbClr val="556070"/>
                </a:solidFill>
                <a:latin typeface="Calibri"/>
              </a:rPr>
              <a:t>+254 and spaces would break Power BI joins.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3136391"/>
            <a:ext cx="128016" cy="566928"/>
          </a:xfrm>
          <a:prstGeom prst="rect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8272" y="3099815"/>
            <a:ext cx="4754880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02833"/>
                </a:solidFill>
                <a:latin typeface="Calibri"/>
              </a:rPr>
              <a:t>Trailing / mixed-case Program — </a:t>
            </a:r>
            <a:r>
              <a:rPr sz="1250" b="0" i="0">
                <a:solidFill>
                  <a:srgbClr val="556070"/>
                </a:solidFill>
                <a:latin typeface="Calibri"/>
              </a:rPr>
              <a:t>“newborn curriculum ” won’t match a strict filter.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10528" y="3849624"/>
            <a:ext cx="128016" cy="566928"/>
          </a:xfrm>
          <a:prstGeom prst="rect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3813048"/>
            <a:ext cx="4754880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02833"/>
                </a:solidFill>
                <a:latin typeface="Calibri"/>
              </a:rPr>
              <a:t>Two spellings of one facility — </a:t>
            </a:r>
            <a:r>
              <a:rPr sz="1250" b="0" i="0">
                <a:solidFill>
                  <a:srgbClr val="556070"/>
                </a:solidFill>
                <a:latin typeface="Calibri"/>
              </a:rPr>
              <a:t>“Refferal” vs “Referral” for code 12457.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10528" y="4562856"/>
            <a:ext cx="128016" cy="566928"/>
          </a:xfrm>
          <a:prstGeom prst="rect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48272" y="4526280"/>
            <a:ext cx="4754880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02833"/>
                </a:solidFill>
                <a:latin typeface="Calibri"/>
              </a:rPr>
              <a:t>Stale duplicate row — </a:t>
            </a:r>
            <a:r>
              <a:rPr sz="1250" b="0" i="0">
                <a:solidFill>
                  <a:srgbClr val="556070"/>
                </a:solidFill>
                <a:latin typeface="Calibri"/>
              </a:rPr>
              <a:t>An old Inactive row must not win.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10528" y="5276088"/>
            <a:ext cx="128016" cy="566928"/>
          </a:xfrm>
          <a:prstGeom prst="rect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48272" y="5239512"/>
            <a:ext cx="4754880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02833"/>
                </a:solidFill>
                <a:latin typeface="Calibri"/>
              </a:rPr>
              <a:t>Attrition — </a:t>
            </a:r>
            <a:r>
              <a:rPr sz="1250" b="0" i="0">
                <a:solidFill>
                  <a:srgbClr val="556070"/>
                </a:solidFill>
                <a:latin typeface="Calibri"/>
              </a:rPr>
              <a:t>If Status flips to Inactive, they must disappear.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Simulator — the record flowing through the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34440"/>
            <a:ext cx="1772869" cy="3063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772869" cy="64008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52728"/>
            <a:ext cx="1772869" cy="29260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STEP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45336"/>
            <a:ext cx="1772869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TRIGGER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1984248"/>
            <a:ext cx="1663141" cy="2240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Weekly trigger / menu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fires refreshAllKoboTools()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Lock • config • verify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token + every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03221" y="1234440"/>
            <a:ext cx="1772869" cy="3063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B6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03221" y="1234440"/>
            <a:ext cx="1772869" cy="640080"/>
          </a:xfrm>
          <a:prstGeom prst="rect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3221" y="1252728"/>
            <a:ext cx="1772869" cy="29260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STEP 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3221" y="1545336"/>
            <a:ext cx="1772869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SYNC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8085" y="1984248"/>
            <a:ext cx="1663141" cy="2240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Inactive row dropped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ID → 700000002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(strip +254, spaces)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Program → canonical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1 spelling per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0682" y="1234440"/>
            <a:ext cx="1772869" cy="3063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B6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0682" y="1234440"/>
            <a:ext cx="1772869" cy="640080"/>
          </a:xfrm>
          <a:prstGeom prst="rect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0682" y="1252728"/>
            <a:ext cx="1772869" cy="29260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40682" y="1545336"/>
            <a:ext cx="1772869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GENERATE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5546" y="1984248"/>
            <a:ext cx="1663141" cy="2240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choice: 12457_makueni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_county_referral_hospital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question makueni_nbc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_mentees + relevance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3" y="1234440"/>
            <a:ext cx="1772869" cy="3063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B6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8143" y="1234440"/>
            <a:ext cx="1772869" cy="640080"/>
          </a:xfrm>
          <a:prstGeom prst="rect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8143" y="1252728"/>
            <a:ext cx="1772869" cy="29260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8143" y="1545336"/>
            <a:ext cx="1772869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3007" y="1984248"/>
            <a:ext cx="1663141" cy="2240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MoH SAC form: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survey / choices 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settings tabs written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from shared sheets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15604" y="1234440"/>
            <a:ext cx="1772869" cy="3063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15604" y="1234440"/>
            <a:ext cx="1772869" cy="64008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5604" y="1252728"/>
            <a:ext cx="1772869" cy="29260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5604" y="1545336"/>
            <a:ext cx="1772869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0468" y="1984248"/>
            <a:ext cx="1663141" cy="2240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No empty lists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No duplicate names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Brackets balance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No unreachable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comparisons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3065" y="1234440"/>
            <a:ext cx="1772869" cy="3063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53065" y="1234440"/>
            <a:ext cx="1772869" cy="64008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3065" y="1252728"/>
            <a:ext cx="1772869" cy="29260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3065" y="1545336"/>
            <a:ext cx="1772869" cy="31089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7929" y="1984248"/>
            <a:ext cx="1663141" cy="2240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Flush → export xlsx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Import (KPI API)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Deploy new version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02833"/>
                </a:solidFill>
                <a:latin typeface="Consolas"/>
              </a:rPr>
              <a:t>eu.kobotoolbox.org</a:t>
            </a:r>
          </a:p>
        </p:txBody>
      </p:sp>
      <p:sp>
        <p:nvSpPr>
          <p:cNvPr id="34" name="Chevron 33"/>
          <p:cNvSpPr/>
          <p:nvPr/>
        </p:nvSpPr>
        <p:spPr>
          <a:xfrm>
            <a:off x="2120341" y="2606040"/>
            <a:ext cx="201168" cy="310896"/>
          </a:xfrm>
          <a:prstGeom prst="chevron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vron 34"/>
          <p:cNvSpPr/>
          <p:nvPr/>
        </p:nvSpPr>
        <p:spPr>
          <a:xfrm>
            <a:off x="4057802" y="2606040"/>
            <a:ext cx="201168" cy="310896"/>
          </a:xfrm>
          <a:prstGeom prst="chevron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evron 35"/>
          <p:cNvSpPr/>
          <p:nvPr/>
        </p:nvSpPr>
        <p:spPr>
          <a:xfrm>
            <a:off x="5995263" y="2606040"/>
            <a:ext cx="201168" cy="310896"/>
          </a:xfrm>
          <a:prstGeom prst="chevron">
            <a:avLst/>
          </a:prstGeom>
          <a:solidFill>
            <a:srgbClr val="2B6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7932724" y="2606040"/>
            <a:ext cx="201168" cy="310896"/>
          </a:xfrm>
          <a:prstGeom prst="chevron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evron 37"/>
          <p:cNvSpPr/>
          <p:nvPr/>
        </p:nvSpPr>
        <p:spPr>
          <a:xfrm>
            <a:off x="9870185" y="2606040"/>
            <a:ext cx="201168" cy="310896"/>
          </a:xfrm>
          <a:prstGeom prst="chevron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5760" y="4572000"/>
            <a:ext cx="11460175" cy="960120"/>
          </a:xfrm>
          <a:prstGeom prst="roundRect">
            <a:avLst/>
          </a:prstGeom>
          <a:solidFill>
            <a:srgbClr val="E3F3E8"/>
          </a:solidFill>
          <a:ln w="1905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681728"/>
            <a:ext cx="11002975" cy="7772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E7A46"/>
                </a:solidFill>
                <a:latin typeface="Calibri"/>
              </a:rPr>
              <a:t>RESULT IN KOBO:  </a:t>
            </a:r>
            <a:r>
              <a:rPr sz="1300" b="0" i="0">
                <a:solidFill>
                  <a:srgbClr val="202833"/>
                </a:solidFill>
                <a:latin typeface="Calibri"/>
              </a:rPr>
              <a:t>Enumerator picks County = Makueni → facility “Makueni County Referral Hospital” → the mentee list opens and </a:t>
            </a:r>
            <a:r>
              <a:rPr sz="1300" b="1" i="0">
                <a:solidFill>
                  <a:srgbClr val="202833"/>
                </a:solidFill>
                <a:latin typeface="Calibri"/>
              </a:rPr>
              <a:t>Grace Hopper</a:t>
            </a:r>
            <a:r>
              <a:rPr sz="1300" b="0" i="0">
                <a:solidFill>
                  <a:srgbClr val="202833"/>
                </a:solidFill>
                <a:latin typeface="Calibri"/>
              </a:rPr>
              <a:t> is selectable.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56070"/>
                </a:solidFill>
                <a:latin typeface="Calibri"/>
              </a:rPr>
              <a:t>Because the choice value and the question’s relevance are built from one canonical spelling, the equality is true and the list appears.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5715000"/>
            <a:ext cx="11460175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56070"/>
                </a:solidFill>
                <a:latin typeface="Calibri"/>
              </a:rPr>
              <a:t>Only forms that pass Step 5 are deployed, so one broken form never blocks the others. The whole cycle is one click or one scheduled trigger.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the simulator catches: the silent facility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56070"/>
                </a:solidFill>
                <a:latin typeface="Calibri"/>
              </a:rPr>
              <a:t>Facility code 12457 was spelled two ways. Each generator rebuilt the choice value from whichever row it read — so the question and the choice landed on different strings.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5532120" cy="3383280"/>
          </a:xfrm>
          <a:prstGeom prst="roundRect">
            <a:avLst/>
          </a:prstGeom>
          <a:solidFill>
            <a:srgbClr val="FBEAEA"/>
          </a:solidFill>
          <a:ln w="19050">
            <a:solidFill>
              <a:srgbClr val="B4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120640" cy="4114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42B2B"/>
                </a:solidFill>
                <a:latin typeface="Calibri"/>
              </a:rPr>
              <a:t>BEFORE  —  never matches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5166360" cy="2651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56070"/>
                </a:solidFill>
                <a:latin typeface="Calibri"/>
              </a:rPr>
              <a:t>choices  (from first row, a MENTORS mentee)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02833"/>
                </a:solidFill>
                <a:latin typeface="Consolas"/>
              </a:rPr>
              <a:t>12457_makueni_county_refferal_hospital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55607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56070"/>
                </a:solidFill>
                <a:latin typeface="Calibri"/>
              </a:rPr>
              <a:t>survey relevant  (from newborn rows)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02833"/>
                </a:solidFill>
                <a:latin typeface="Consolas"/>
              </a:rPr>
              <a:t>...= '12457_makueni_county_referral_hospital'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55607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B42B2B"/>
                </a:solidFill>
                <a:latin typeface="Calibri"/>
              </a:rPr>
              <a:t>→ one ‘f’ apart → condition always false → facility selected, </a:t>
            </a:r>
            <a:r>
              <a:rPr sz="1150" b="1" i="0">
                <a:solidFill>
                  <a:srgbClr val="B42B2B"/>
                </a:solidFill>
                <a:latin typeface="Calibri"/>
              </a:rPr>
              <a:t>no mentees, no error.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532120" cy="3383280"/>
          </a:xfrm>
          <a:prstGeom prst="roundRect">
            <a:avLst/>
          </a:prstGeom>
          <a:solidFill>
            <a:srgbClr val="E3F3E8"/>
          </a:solidFill>
          <a:ln w="1905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828800"/>
            <a:ext cx="5120640" cy="4114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7A46"/>
                </a:solidFill>
                <a:latin typeface="Calibri"/>
              </a:rPr>
              <a:t>AFTER  —  one canonical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5166360" cy="2651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A365D"/>
                </a:solidFill>
                <a:latin typeface="Consolas"/>
              </a:rPr>
              <a:t>facilityChoiceValue_(code, facility)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070"/>
                </a:solidFill>
                <a:latin typeface="Calibri"/>
              </a:rPr>
              <a:t>resolves ONE spelling per code (most-used wins)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55607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56070"/>
                </a:solidFill>
                <a:latin typeface="Calibri"/>
              </a:rPr>
              <a:t>choices  &amp;  survey relevant  (identical)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02833"/>
                </a:solidFill>
                <a:latin typeface="Consolas"/>
              </a:rPr>
              <a:t>12457_makueni_county_referral_hospital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55607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E7A46"/>
                </a:solidFill>
                <a:latin typeface="Calibri"/>
              </a:rPr>
              <a:t>→ equality true → </a:t>
            </a:r>
            <a:r>
              <a:rPr sz="1150" b="1" i="0">
                <a:solidFill>
                  <a:srgbClr val="1E7A46"/>
                </a:solidFill>
                <a:latin typeface="Calibri"/>
              </a:rPr>
              <a:t>mentee list appears; typo logged for source fix.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257800"/>
            <a:ext cx="11247120" cy="1051560"/>
          </a:xfrm>
          <a:prstGeom prst="roundRect">
            <a:avLst/>
          </a:prstGeom>
          <a:solidFill>
            <a:srgbClr val="EEF3FA"/>
          </a:solidFill>
          <a:ln w="19050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5367528"/>
            <a:ext cx="10881360" cy="8686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A365D"/>
                </a:solidFill>
                <a:latin typeface="Calibri"/>
              </a:rPr>
              <a:t>Safety net  —  </a:t>
            </a:r>
            <a:r>
              <a:rPr sz="1250" b="1" i="0">
                <a:solidFill>
                  <a:srgbClr val="2B6CB2"/>
                </a:solidFill>
                <a:latin typeface="Consolas"/>
              </a:rPr>
              <a:t>findKoboUnreachableComparisons_()</a:t>
            </a:r>
            <a:r>
              <a:rPr sz="1250" b="0" i="0">
                <a:solidFill>
                  <a:srgbClr val="202833"/>
                </a:solidFill>
                <a:latin typeface="Calibri"/>
              </a:rPr>
              <a:t> flags any  ${field} = 'value'  whose value is not a choice in that list, naming the row and question.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Reported as a WARNING, not a blocker — Kobo accepts these, so they are the one class of fault nothing else surfaces. Runs on every deploy and in checkAllKoboFormsForDeployProblems().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every simulated run guarantees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685032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8872" cy="141732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307592"/>
            <a:ext cx="3319272" cy="11795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A365D"/>
                </a:solidFill>
                <a:latin typeface="Calibri"/>
              </a:rPr>
              <a:t>Clean identifiers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IDs normalized to 9 digits (1/7…); bad IDs excluded and logged — Power BI joins stay intact.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188720"/>
            <a:ext cx="3685032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98264" y="1188720"/>
            <a:ext cx="118872" cy="141732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1307592"/>
            <a:ext cx="3319272" cy="11795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A365D"/>
                </a:solidFill>
                <a:latin typeface="Calibri"/>
              </a:rPr>
              <a:t>Current population only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Inactive dropped; last row per posting wins, so attrition is reflected in real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39328" y="1188720"/>
            <a:ext cx="3685032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39328" y="1188720"/>
            <a:ext cx="118872" cy="141732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307592"/>
            <a:ext cx="3319272" cy="11795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A365D"/>
                </a:solidFill>
                <a:latin typeface="Calibri"/>
              </a:rPr>
              <a:t>ASCII-safe names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Accents and apostrophes folded (Murang’a → muranga) so field references never break.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62072"/>
            <a:ext cx="3685032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62072"/>
            <a:ext cx="118872" cy="141732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980944"/>
            <a:ext cx="3319272" cy="11795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A365D"/>
                </a:solidFill>
                <a:latin typeface="Calibri"/>
              </a:rPr>
              <a:t>Unique question names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One list name per facility code (sagana_mentees, _02, _03).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2862072"/>
            <a:ext cx="3685032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2862072"/>
            <a:ext cx="118872" cy="141732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2980944"/>
            <a:ext cx="3319272" cy="11795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A365D"/>
                </a:solidFill>
                <a:latin typeface="Calibri"/>
              </a:rPr>
              <a:t>Every select has choices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Questions built only for facilities with selectable people; empty lists dropped.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39328" y="2862072"/>
            <a:ext cx="3685032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39328" y="2862072"/>
            <a:ext cx="118872" cy="141732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2980944"/>
            <a:ext cx="3319272" cy="11795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A365D"/>
                </a:solidFill>
                <a:latin typeface="Calibri"/>
              </a:rPr>
              <a:t>One canonical facility 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Choice value and relevance share one spelling per code (Rule 13).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35424"/>
            <a:ext cx="3685032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535424"/>
            <a:ext cx="118872" cy="141732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654296"/>
            <a:ext cx="3319272" cy="11795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A365D"/>
                </a:solidFill>
                <a:latin typeface="Calibri"/>
              </a:rPr>
              <a:t>Balanced expressions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Parentheses/quotes checked before upload, ignoring quoted text.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8264" y="4535424"/>
            <a:ext cx="3685032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98264" y="4535424"/>
            <a:ext cx="118872" cy="141732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54296" y="4654296"/>
            <a:ext cx="3319272" cy="11795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A365D"/>
                </a:solidFill>
                <a:latin typeface="Calibri"/>
              </a:rPr>
              <a:t>Correct scores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Knowledge-test divisor equals the scored-question count; a perfect paper is exactly 100.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39328" y="4535424"/>
            <a:ext cx="3685032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39328" y="4535424"/>
            <a:ext cx="118872" cy="141732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4654296"/>
            <a:ext cx="3319272" cy="11795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A365D"/>
                </a:solidFill>
                <a:latin typeface="Calibri"/>
              </a:rPr>
              <a:t>Fail-safe deploy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56070"/>
                </a:solidFill>
                <a:latin typeface="Calibri"/>
              </a:rPr>
              <a:t>Only forms that pass validation deploy; a broken form never blocks the rest.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56070"/>
                </a:solidFill>
                <a:latin typeface="Calibri"/>
              </a:rPr>
              <a:t>Each guarantee exists because ignoring it once broke a live deployment — now enforced automatically on every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