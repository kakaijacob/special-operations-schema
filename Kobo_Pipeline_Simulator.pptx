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148840"/>
            <a:ext cx="914400" cy="63500"/>
          </a:xfrm>
          <a:prstGeom prst="rect">
            <a:avLst/>
          </a:prstGeom>
          <a:solidFill>
            <a:srgbClr val="57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286000"/>
            <a:ext cx="11057839" cy="1463040"/>
          </a:xfrm>
          <a:prstGeom prst="rect">
            <a:avLst/>
          </a:prstGeom>
          <a:noFill/>
        </p:spPr>
        <p:txBody>
          <a:bodyPr wrap="square" anchor="t">
            <a:spAutoFit/>
          </a:bodyPr>
          <a:lstStyle/>
          <a:p>
            <a:pPr algn="l">
              <a:lnSpc>
                <a:spcPct val="100000"/>
              </a:lnSpc>
              <a:spcBef>
                <a:spcPts val="0"/>
              </a:spcBef>
              <a:spcAft>
                <a:spcPts val="800"/>
              </a:spcAft>
            </a:pPr>
            <a:r>
              <a:rPr sz="4600" b="1" i="0">
                <a:solidFill>
                  <a:srgbClr val="FFFFFF"/>
                </a:solidFill>
                <a:latin typeface="Segoe UI"/>
              </a:rPr>
              <a:t>Kobo Tool Creator</a:t>
            </a:r>
          </a:p>
          <a:p>
            <a:pPr algn="l">
              <a:lnSpc>
                <a:spcPct val="100000"/>
              </a:lnSpc>
              <a:spcBef>
                <a:spcPts val="0"/>
              </a:spcBef>
              <a:spcAft>
                <a:spcPts val="800"/>
              </a:spcAft>
            </a:pPr>
            <a:r>
              <a:rPr sz="2200" b="0" i="0">
                <a:solidFill>
                  <a:srgbClr val="57A8E8"/>
                </a:solidFill>
                <a:latin typeface="Segoe UI"/>
              </a:rPr>
              <a:t>From messy source data to five live Kobo forms</a:t>
            </a:r>
          </a:p>
        </p:txBody>
      </p:sp>
      <p:sp>
        <p:nvSpPr>
          <p:cNvPr id="5" name="TextBox 4"/>
          <p:cNvSpPr txBox="1"/>
          <p:nvPr/>
        </p:nvSpPr>
        <p:spPr>
          <a:xfrm>
            <a:off x="566928" y="3840480"/>
            <a:ext cx="8686800" cy="1280160"/>
          </a:xfrm>
          <a:prstGeom prst="rect">
            <a:avLst/>
          </a:prstGeom>
          <a:noFill/>
        </p:spPr>
        <p:txBody>
          <a:bodyPr wrap="square" anchor="t">
            <a:spAutoFit/>
          </a:bodyPr>
          <a:lstStyle/>
          <a:p>
            <a:pPr algn="l">
              <a:lnSpc>
                <a:spcPct val="120000"/>
              </a:lnSpc>
              <a:spcBef>
                <a:spcPts val="0"/>
              </a:spcBef>
              <a:spcAft>
                <a:spcPts val="400"/>
              </a:spcAft>
            </a:pPr>
            <a:r>
              <a:rPr sz="1500" b="0" i="0">
                <a:solidFill>
                  <a:srgbClr val="93ABC9"/>
                </a:solidFill>
                <a:latin typeface="Segoe UI"/>
              </a:rPr>
              <a:t>An automated Google Apps Script pipeline that syncs the mentee and mentor databases, generates shared choice lists, then builds, validates and deploys every registered form to KoboToolbox.</a:t>
            </a:r>
          </a:p>
        </p:txBody>
      </p:sp>
      <p:sp>
        <p:nvSpPr>
          <p:cNvPr id="6" name="Rounded Rectangle 5"/>
          <p:cNvSpPr/>
          <p:nvPr/>
        </p:nvSpPr>
        <p:spPr>
          <a:xfrm>
            <a:off x="566928" y="5349240"/>
            <a:ext cx="1141171" cy="304800"/>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9FE3C1"/>
                </a:solidFill>
                <a:latin typeface="Segoe UI"/>
              </a:rPr>
              <a:t>1 trigger</a:t>
            </a:r>
          </a:p>
        </p:txBody>
      </p:sp>
      <p:sp>
        <p:nvSpPr>
          <p:cNvPr id="7" name="Rounded Rectangle 6"/>
          <p:cNvSpPr/>
          <p:nvPr/>
        </p:nvSpPr>
        <p:spPr>
          <a:xfrm>
            <a:off x="1845259" y="5349240"/>
            <a:ext cx="1309420" cy="304800"/>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9FE3C1"/>
                </a:solidFill>
                <a:latin typeface="Segoe UI"/>
              </a:rPr>
              <a:t>2 databases</a:t>
            </a:r>
          </a:p>
        </p:txBody>
      </p:sp>
      <p:sp>
        <p:nvSpPr>
          <p:cNvPr id="8" name="Rounded Rectangle 7"/>
          <p:cNvSpPr/>
          <p:nvPr/>
        </p:nvSpPr>
        <p:spPr>
          <a:xfrm>
            <a:off x="3291839" y="5349240"/>
            <a:ext cx="1982419" cy="304800"/>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9FE3C1"/>
                </a:solidFill>
                <a:latin typeface="Segoe UI"/>
              </a:rPr>
              <a:t>14 generated sheets</a:t>
            </a:r>
          </a:p>
        </p:txBody>
      </p:sp>
      <p:sp>
        <p:nvSpPr>
          <p:cNvPr id="9" name="Rounded Rectangle 8"/>
          <p:cNvSpPr/>
          <p:nvPr/>
        </p:nvSpPr>
        <p:spPr>
          <a:xfrm>
            <a:off x="5411418" y="5349240"/>
            <a:ext cx="1393545" cy="304800"/>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9FE3C1"/>
                </a:solidFill>
                <a:latin typeface="Segoe UI"/>
              </a:rPr>
              <a:t>5 Kobo tools</a:t>
            </a:r>
          </a:p>
        </p:txBody>
      </p:sp>
      <p:sp>
        <p:nvSpPr>
          <p:cNvPr id="10" name="Rounded Rectangle 9"/>
          <p:cNvSpPr/>
          <p:nvPr/>
        </p:nvSpPr>
        <p:spPr>
          <a:xfrm>
            <a:off x="6942123" y="5349240"/>
            <a:ext cx="1309420" cy="304800"/>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9FE3C1"/>
                </a:solidFill>
                <a:latin typeface="Segoe UI"/>
              </a:rPr>
              <a:t>1 EU server</a:t>
            </a:r>
          </a:p>
        </p:txBody>
      </p:sp>
      <p:sp>
        <p:nvSpPr>
          <p:cNvPr id="11" name="TextBox 10"/>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12" name="TextBox 11"/>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468880"/>
            <a:ext cx="914400" cy="63500"/>
          </a:xfrm>
          <a:prstGeom prst="rect">
            <a:avLst/>
          </a:prstGeom>
          <a:solidFill>
            <a:srgbClr val="57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0"/>
            <a:ext cx="11057839" cy="457200"/>
          </a:xfrm>
          <a:prstGeom prst="rect">
            <a:avLst/>
          </a:prstGeom>
          <a:noFill/>
        </p:spPr>
        <p:txBody>
          <a:bodyPr wrap="square" anchor="t">
            <a:spAutoFit/>
          </a:bodyPr>
          <a:lstStyle/>
          <a:p>
            <a:pPr algn="l">
              <a:lnSpc>
                <a:spcPct val="100000"/>
              </a:lnSpc>
              <a:spcBef>
                <a:spcPts val="0"/>
              </a:spcBef>
              <a:spcAft>
                <a:spcPts val="400"/>
              </a:spcAft>
            </a:pPr>
            <a:r>
              <a:rPr sz="1300" b="1" i="0">
                <a:solidFill>
                  <a:srgbClr val="57A8E8"/>
                </a:solidFill>
                <a:latin typeface="Segoe UI"/>
              </a:rPr>
              <a:t>PART 1</a:t>
            </a:r>
          </a:p>
        </p:txBody>
      </p:sp>
      <p:sp>
        <p:nvSpPr>
          <p:cNvPr id="5" name="TextBox 4"/>
          <p:cNvSpPr txBox="1"/>
          <p:nvPr/>
        </p:nvSpPr>
        <p:spPr>
          <a:xfrm>
            <a:off x="566928" y="2606040"/>
            <a:ext cx="11057839" cy="1097280"/>
          </a:xfrm>
          <a:prstGeom prst="rect">
            <a:avLst/>
          </a:prstGeom>
          <a:noFill/>
        </p:spPr>
        <p:txBody>
          <a:bodyPr wrap="square" anchor="t">
            <a:spAutoFit/>
          </a:bodyPr>
          <a:lstStyle/>
          <a:p>
            <a:pPr algn="l">
              <a:lnSpc>
                <a:spcPct val="100000"/>
              </a:lnSpc>
              <a:spcBef>
                <a:spcPts val="0"/>
              </a:spcBef>
              <a:spcAft>
                <a:spcPts val="400"/>
              </a:spcAft>
            </a:pPr>
            <a:r>
              <a:rPr sz="3800" b="1" i="0">
                <a:solidFill>
                  <a:srgbClr val="FFFFFF"/>
                </a:solidFill>
                <a:latin typeface="Segoe UI"/>
              </a:rPr>
              <a:t>The Process</a:t>
            </a:r>
          </a:p>
        </p:txBody>
      </p:sp>
      <p:sp>
        <p:nvSpPr>
          <p:cNvPr id="6" name="TextBox 5"/>
          <p:cNvSpPr txBox="1"/>
          <p:nvPr/>
        </p:nvSpPr>
        <p:spPr>
          <a:xfrm>
            <a:off x="566928" y="3794760"/>
            <a:ext cx="9601200" cy="1097280"/>
          </a:xfrm>
          <a:prstGeom prst="rect">
            <a:avLst/>
          </a:prstGeom>
          <a:noFill/>
        </p:spPr>
        <p:txBody>
          <a:bodyPr wrap="square" anchor="t">
            <a:spAutoFit/>
          </a:bodyPr>
          <a:lstStyle/>
          <a:p>
            <a:pPr algn="l">
              <a:lnSpc>
                <a:spcPct val="120000"/>
              </a:lnSpc>
              <a:spcBef>
                <a:spcPts val="0"/>
              </a:spcBef>
              <a:spcAft>
                <a:spcPts val="400"/>
              </a:spcAft>
            </a:pPr>
            <a:r>
              <a:rPr sz="1700" b="0" i="0">
                <a:solidFill>
                  <a:srgbClr val="93ABC9"/>
                </a:solidFill>
                <a:latin typeface="Segoe UI"/>
              </a:rPr>
              <a:t>One pipeline: messy source data → cleaned sheets → shared lists → validated forms → live on Kobo</a:t>
            </a:r>
          </a:p>
        </p:txBody>
      </p:sp>
      <p:sp>
        <p:nvSpPr>
          <p:cNvPr id="7" name="Rounded Rectangle 6"/>
          <p:cNvSpPr/>
          <p:nvPr/>
        </p:nvSpPr>
        <p:spPr>
          <a:xfrm>
            <a:off x="566928" y="1234440"/>
            <a:ext cx="274320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Part 1 · Process</a:t>
            </a:r>
          </a:p>
        </p:txBody>
      </p:sp>
      <p:sp>
        <p:nvSpPr>
          <p:cNvPr id="8" name="TextBox 7"/>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9" name="TextBox 8"/>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57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57A8E8"/>
                </a:solidFill>
                <a:latin typeface="Segoe UI"/>
              </a:rPr>
              <a:t>STEP 0 · TRIGGER</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A weekly trigger reads the raw databases</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Part 1 · Process</a:t>
            </a:r>
          </a:p>
        </p:txBody>
      </p:sp>
      <p:sp>
        <p:nvSpPr>
          <p:cNvPr id="7" name="TextBox 6"/>
          <p:cNvSpPr txBox="1"/>
          <p:nvPr/>
        </p:nvSpPr>
        <p:spPr>
          <a:xfrm>
            <a:off x="566928" y="1783080"/>
            <a:ext cx="11057839" cy="457200"/>
          </a:xfrm>
          <a:prstGeom prst="rect">
            <a:avLst/>
          </a:prstGeom>
          <a:noFill/>
        </p:spPr>
        <p:txBody>
          <a:bodyPr wrap="square" anchor="t">
            <a:spAutoFit/>
          </a:bodyPr>
          <a:lstStyle/>
          <a:p>
            <a:pPr algn="l">
              <a:lnSpc>
                <a:spcPct val="100000"/>
              </a:lnSpc>
              <a:spcBef>
                <a:spcPts val="0"/>
              </a:spcBef>
              <a:spcAft>
                <a:spcPts val="400"/>
              </a:spcAft>
            </a:pPr>
            <a:r>
              <a:rPr sz="1300" b="0" i="1">
                <a:solidFill>
                  <a:srgbClr val="93ABC9"/>
                </a:solidFill>
                <a:latin typeface="Segoe UI"/>
              </a:rPr>
              <a:t>The mentee and mentor databases are typed by hand, so the data arrives messy.</a:t>
            </a:r>
          </a:p>
        </p:txBody>
      </p:sp>
      <p:sp>
        <p:nvSpPr>
          <p:cNvPr id="8" name="Rounded Rectangle 7"/>
          <p:cNvSpPr/>
          <p:nvPr/>
        </p:nvSpPr>
        <p:spPr>
          <a:xfrm>
            <a:off x="566928" y="2240280"/>
            <a:ext cx="110578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76656" y="2591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1</a:t>
            </a:r>
          </a:p>
        </p:txBody>
      </p:sp>
      <p:sp>
        <p:nvSpPr>
          <p:cNvPr id="10" name="TextBox 9"/>
          <p:cNvSpPr txBox="1"/>
          <p:nvPr/>
        </p:nvSpPr>
        <p:spPr>
          <a:xfrm>
            <a:off x="1133856" y="2258568"/>
            <a:ext cx="103720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A weekly trigger fires refresh all Kobo tools. It reads the mentee and mentor databases, which are typed by hand, so the data arrives messy. Here is one raw row for Grace Hopper.</a:t>
            </a:r>
          </a:p>
        </p:txBody>
      </p:sp>
      <p:sp>
        <p:nvSpPr>
          <p:cNvPr id="11" name="Rounded Rectangle 10"/>
          <p:cNvSpPr/>
          <p:nvPr/>
        </p:nvSpPr>
        <p:spPr>
          <a:xfrm>
            <a:off x="566928" y="3383280"/>
            <a:ext cx="110578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76656" y="3734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2</a:t>
            </a:r>
          </a:p>
        </p:txBody>
      </p:sp>
      <p:sp>
        <p:nvSpPr>
          <p:cNvPr id="13" name="TextBox 12"/>
          <p:cNvSpPr txBox="1"/>
          <p:nvPr/>
        </p:nvSpPr>
        <p:spPr>
          <a:xfrm>
            <a:off x="1133856" y="3401568"/>
            <a:ext cx="103720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Five things in that single row would break the form. A prefixed I.D., a trailing space in the programme, two spellings for one facility code, a stale inactive duplicate, and attrition.</a:t>
            </a:r>
          </a:p>
        </p:txBody>
      </p:sp>
      <p:sp>
        <p:nvSpPr>
          <p:cNvPr id="14" name="Rounded Rectangle 13"/>
          <p:cNvSpPr/>
          <p:nvPr/>
        </p:nvSpPr>
        <p:spPr>
          <a:xfrm>
            <a:off x="566928" y="4526280"/>
            <a:ext cx="110578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76656" y="4877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3</a:t>
            </a:r>
          </a:p>
        </p:txBody>
      </p:sp>
      <p:sp>
        <p:nvSpPr>
          <p:cNvPr id="16" name="TextBox 15"/>
          <p:cNvSpPr txBox="1"/>
          <p:nvPr/>
        </p:nvSpPr>
        <p:spPr>
          <a:xfrm>
            <a:off x="1133856" y="4544568"/>
            <a:ext cx="103720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Every one of these has broken a live deployment before. Watch each one get resolved automatically.</a:t>
            </a:r>
          </a:p>
        </p:txBody>
      </p:sp>
      <p:sp>
        <p:nvSpPr>
          <p:cNvPr id="17" name="TextBox 16"/>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18" name="TextBox 17"/>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57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57A8E8"/>
                </a:solidFill>
                <a:latin typeface="Segoe UI"/>
              </a:rPr>
              <a:t>STEPS 1–2 · SYNC</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Clean the data into local sheets</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Part 1 · Process</a:t>
            </a:r>
          </a:p>
        </p:txBody>
      </p:sp>
      <p:sp>
        <p:nvSpPr>
          <p:cNvPr id="7" name="TextBox 6"/>
          <p:cNvSpPr txBox="1"/>
          <p:nvPr/>
        </p:nvSpPr>
        <p:spPr>
          <a:xfrm>
            <a:off x="566928" y="1783080"/>
            <a:ext cx="11057839" cy="457200"/>
          </a:xfrm>
          <a:prstGeom prst="rect">
            <a:avLst/>
          </a:prstGeom>
          <a:noFill/>
        </p:spPr>
        <p:txBody>
          <a:bodyPr wrap="square" anchor="t">
            <a:spAutoFit/>
          </a:bodyPr>
          <a:lstStyle/>
          <a:p>
            <a:pPr algn="l">
              <a:lnSpc>
                <a:spcPct val="100000"/>
              </a:lnSpc>
              <a:spcBef>
                <a:spcPts val="0"/>
              </a:spcBef>
              <a:spcAft>
                <a:spcPts val="400"/>
              </a:spcAft>
            </a:pPr>
            <a:r>
              <a:rPr sz="1300" b="0" i="1">
                <a:solidFill>
                  <a:srgbClr val="93ABC9"/>
                </a:solidFill>
                <a:latin typeface="Segoe UI"/>
              </a:rPr>
              <a:t>Builders never read the raw databases — only these cleaned local copies.</a:t>
            </a:r>
          </a:p>
        </p:txBody>
      </p:sp>
      <p:sp>
        <p:nvSpPr>
          <p:cNvPr id="8" name="Rounded Rectangle 7"/>
          <p:cNvSpPr/>
          <p:nvPr/>
        </p:nvSpPr>
        <p:spPr>
          <a:xfrm>
            <a:off x="566928" y="2240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76656" y="2591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1</a:t>
            </a:r>
          </a:p>
        </p:txBody>
      </p:sp>
      <p:sp>
        <p:nvSpPr>
          <p:cNvPr id="10" name="TextBox 9"/>
          <p:cNvSpPr txBox="1"/>
          <p:nvPr/>
        </p:nvSpPr>
        <p:spPr>
          <a:xfrm>
            <a:off x="1133856" y="2258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Step one, sync. The mentee I.D. is stripped of its country code and spaces, leaving a clean nine digit number.</a:t>
            </a:r>
          </a:p>
        </p:txBody>
      </p:sp>
      <p:sp>
        <p:nvSpPr>
          <p:cNvPr id="11" name="Rounded Rectangle 10"/>
          <p:cNvSpPr/>
          <p:nvPr/>
        </p:nvSpPr>
        <p:spPr>
          <a:xfrm>
            <a:off x="566928" y="3383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76656" y="3734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2</a:t>
            </a:r>
          </a:p>
        </p:txBody>
      </p:sp>
      <p:sp>
        <p:nvSpPr>
          <p:cNvPr id="13" name="TextBox 12"/>
          <p:cNvSpPr txBox="1"/>
          <p:nvPr/>
        </p:nvSpPr>
        <p:spPr>
          <a:xfrm>
            <a:off x="1133856" y="3401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 programme is trimmed and normalised, so a trailing space can never drop the row from a filter.</a:t>
            </a:r>
          </a:p>
        </p:txBody>
      </p:sp>
      <p:sp>
        <p:nvSpPr>
          <p:cNvPr id="14" name="Rounded Rectangle 13"/>
          <p:cNvSpPr/>
          <p:nvPr/>
        </p:nvSpPr>
        <p:spPr>
          <a:xfrm>
            <a:off x="566928" y="4526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76656" y="4877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3</a:t>
            </a:r>
          </a:p>
        </p:txBody>
      </p:sp>
      <p:sp>
        <p:nvSpPr>
          <p:cNvPr id="16" name="TextBox 15"/>
          <p:cNvSpPr txBox="1"/>
          <p:nvPr/>
        </p:nvSpPr>
        <p:spPr>
          <a:xfrm>
            <a:off x="1133856" y="4544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 stale inactive row is dropped. One record per posting survives, and the latest row wins.</a:t>
            </a:r>
          </a:p>
        </p:txBody>
      </p:sp>
      <p:sp>
        <p:nvSpPr>
          <p:cNvPr id="17" name="Rounded Rectangle 16"/>
          <p:cNvSpPr/>
          <p:nvPr/>
        </p:nvSpPr>
        <p:spPr>
          <a:xfrm>
            <a:off x="6278727" y="2240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88455" y="2591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4</a:t>
            </a:r>
          </a:p>
        </p:txBody>
      </p:sp>
      <p:sp>
        <p:nvSpPr>
          <p:cNvPr id="19" name="TextBox 18"/>
          <p:cNvSpPr txBox="1"/>
          <p:nvPr/>
        </p:nvSpPr>
        <p:spPr>
          <a:xfrm>
            <a:off x="6845655" y="2258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County spellings are folded too, so Murang'a with an apostrophe and Murangá with an accent become one value.</a:t>
            </a:r>
          </a:p>
        </p:txBody>
      </p:sp>
      <p:sp>
        <p:nvSpPr>
          <p:cNvPr id="20" name="Rounded Rectangle 19"/>
          <p:cNvSpPr/>
          <p:nvPr/>
        </p:nvSpPr>
        <p:spPr>
          <a:xfrm>
            <a:off x="6278727" y="3383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88455" y="3734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5</a:t>
            </a:r>
          </a:p>
        </p:txBody>
      </p:sp>
      <p:sp>
        <p:nvSpPr>
          <p:cNvPr id="22" name="TextBox 21"/>
          <p:cNvSpPr txBox="1"/>
          <p:nvPr/>
        </p:nvSpPr>
        <p:spPr>
          <a:xfrm>
            <a:off x="6845655" y="3401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Now facility code twelve four five seven. It arrived spelled two ways, so the most used spelling becomes the canonical one.</a:t>
            </a:r>
          </a:p>
        </p:txBody>
      </p:sp>
      <p:sp>
        <p:nvSpPr>
          <p:cNvPr id="23" name="Rounded Rectangle 22"/>
          <p:cNvSpPr/>
          <p:nvPr/>
        </p:nvSpPr>
        <p:spPr>
          <a:xfrm>
            <a:off x="6278727" y="4526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388455" y="4877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6</a:t>
            </a:r>
          </a:p>
        </p:txBody>
      </p:sp>
      <p:sp>
        <p:nvSpPr>
          <p:cNvPr id="25" name="TextBox 24"/>
          <p:cNvSpPr txBox="1"/>
          <p:nvPr/>
        </p:nvSpPr>
        <p:spPr>
          <a:xfrm>
            <a:off x="6845655" y="4544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 conflict is logged for correction at source, and from here every generator uses that single spelling.</a:t>
            </a:r>
          </a:p>
        </p:txBody>
      </p:sp>
      <p:sp>
        <p:nvSpPr>
          <p:cNvPr id="26" name="TextBox 25"/>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27" name="TextBox 26"/>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57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57A8E8"/>
                </a:solidFill>
                <a:latin typeface="Segoe UI"/>
              </a:rPr>
              <a:t>STEP 3 · GENERATE</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Build the shared choice and survey lists</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Part 1 · Process</a:t>
            </a:r>
          </a:p>
        </p:txBody>
      </p:sp>
      <p:sp>
        <p:nvSpPr>
          <p:cNvPr id="7" name="TextBox 6"/>
          <p:cNvSpPr txBox="1"/>
          <p:nvPr/>
        </p:nvSpPr>
        <p:spPr>
          <a:xfrm>
            <a:off x="566928" y="1783080"/>
            <a:ext cx="11057839" cy="457200"/>
          </a:xfrm>
          <a:prstGeom prst="rect">
            <a:avLst/>
          </a:prstGeom>
          <a:noFill/>
        </p:spPr>
        <p:txBody>
          <a:bodyPr wrap="square" anchor="t">
            <a:spAutoFit/>
          </a:bodyPr>
          <a:lstStyle/>
          <a:p>
            <a:pPr algn="l">
              <a:lnSpc>
                <a:spcPct val="100000"/>
              </a:lnSpc>
              <a:spcBef>
                <a:spcPts val="0"/>
              </a:spcBef>
              <a:spcAft>
                <a:spcPts val="400"/>
              </a:spcAft>
            </a:pPr>
            <a:r>
              <a:rPr sz="1300" b="0" i="1">
                <a:solidFill>
                  <a:srgbClr val="93ABC9"/>
                </a:solidFill>
                <a:latin typeface="Segoe UI"/>
              </a:rPr>
              <a:t>kobocreator turns the clean sheets into the lists every form reads.</a:t>
            </a:r>
          </a:p>
        </p:txBody>
      </p:sp>
      <p:sp>
        <p:nvSpPr>
          <p:cNvPr id="8" name="Rounded Rectangle 7"/>
          <p:cNvSpPr/>
          <p:nvPr/>
        </p:nvSpPr>
        <p:spPr>
          <a:xfrm>
            <a:off x="566928" y="2240280"/>
            <a:ext cx="11057839" cy="89611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76656" y="252323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1</a:t>
            </a:r>
          </a:p>
        </p:txBody>
      </p:sp>
      <p:sp>
        <p:nvSpPr>
          <p:cNvPr id="10" name="TextBox 9"/>
          <p:cNvSpPr txBox="1"/>
          <p:nvPr/>
        </p:nvSpPr>
        <p:spPr>
          <a:xfrm>
            <a:off x="1133856" y="2258568"/>
            <a:ext cx="10372039" cy="89611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Step three, generate. Kobocreator turns the clean sheets into the shared choice lists, here the facilities and the mentees.</a:t>
            </a:r>
          </a:p>
        </p:txBody>
      </p:sp>
      <p:sp>
        <p:nvSpPr>
          <p:cNvPr id="11" name="Rounded Rectangle 10"/>
          <p:cNvSpPr/>
          <p:nvPr/>
        </p:nvSpPr>
        <p:spPr>
          <a:xfrm>
            <a:off x="566928" y="3246120"/>
            <a:ext cx="11057839" cy="89611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76656" y="352907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2</a:t>
            </a:r>
          </a:p>
        </p:txBody>
      </p:sp>
      <p:sp>
        <p:nvSpPr>
          <p:cNvPr id="13" name="TextBox 12"/>
          <p:cNvSpPr txBox="1"/>
          <p:nvPr/>
        </p:nvSpPr>
        <p:spPr>
          <a:xfrm>
            <a:off x="1133856" y="3264408"/>
            <a:ext cx="10372039" cy="89611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 survey question is then written against that exact list name.</a:t>
            </a:r>
          </a:p>
        </p:txBody>
      </p:sp>
      <p:sp>
        <p:nvSpPr>
          <p:cNvPr id="14" name="Rounded Rectangle 13"/>
          <p:cNvSpPr/>
          <p:nvPr/>
        </p:nvSpPr>
        <p:spPr>
          <a:xfrm>
            <a:off x="566928" y="4251960"/>
            <a:ext cx="11057839" cy="89611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76656" y="45349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3</a:t>
            </a:r>
          </a:p>
        </p:txBody>
      </p:sp>
      <p:sp>
        <p:nvSpPr>
          <p:cNvPr id="16" name="TextBox 15"/>
          <p:cNvSpPr txBox="1"/>
          <p:nvPr/>
        </p:nvSpPr>
        <p:spPr>
          <a:xfrm>
            <a:off x="1133856" y="4270248"/>
            <a:ext cx="10372039" cy="89611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And the relevance condition is built from the same canonical facility value.</a:t>
            </a:r>
          </a:p>
        </p:txBody>
      </p:sp>
      <p:sp>
        <p:nvSpPr>
          <p:cNvPr id="17" name="Rounded Rectangle 16"/>
          <p:cNvSpPr/>
          <p:nvPr/>
        </p:nvSpPr>
        <p:spPr>
          <a:xfrm>
            <a:off x="566928" y="5257800"/>
            <a:ext cx="11057839" cy="89611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76656" y="554075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4</a:t>
            </a:r>
          </a:p>
        </p:txBody>
      </p:sp>
      <p:sp>
        <p:nvSpPr>
          <p:cNvPr id="19" name="TextBox 18"/>
          <p:cNvSpPr txBox="1"/>
          <p:nvPr/>
        </p:nvSpPr>
        <p:spPr>
          <a:xfrm>
            <a:off x="1133856" y="5276088"/>
            <a:ext cx="10372039" cy="89611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 two green strings are identical. That is why the condition can actually be true, and the mentee list really opens.</a:t>
            </a:r>
          </a:p>
        </p:txBody>
      </p:sp>
      <p:sp>
        <p:nvSpPr>
          <p:cNvPr id="20" name="TextBox 19"/>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21" name="TextBox 20"/>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57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57A8E8"/>
                </a:solidFill>
                <a:latin typeface="Segoe UI"/>
              </a:rPr>
              <a:t>STEP 4–5 · BUILD &amp; VALIDATE</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Write each form, then check it the way Kobo will</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Part 1 · Process</a:t>
            </a:r>
          </a:p>
        </p:txBody>
      </p:sp>
      <p:sp>
        <p:nvSpPr>
          <p:cNvPr id="7" name="Rounded Rectangle 6"/>
          <p:cNvSpPr/>
          <p:nvPr/>
        </p:nvSpPr>
        <p:spPr>
          <a:xfrm>
            <a:off x="566928" y="1874519"/>
            <a:ext cx="53460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76656" y="2203195"/>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1</a:t>
            </a:r>
          </a:p>
        </p:txBody>
      </p:sp>
      <p:sp>
        <p:nvSpPr>
          <p:cNvPr id="9" name="TextBox 8"/>
          <p:cNvSpPr txBox="1"/>
          <p:nvPr/>
        </p:nvSpPr>
        <p:spPr>
          <a:xfrm>
            <a:off x="1133856" y="1892807"/>
            <a:ext cx="46602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Step four, build. Every form is written as three tabs. Survey, choices, and settings.</a:t>
            </a:r>
          </a:p>
        </p:txBody>
      </p:sp>
      <p:sp>
        <p:nvSpPr>
          <p:cNvPr id="10" name="Rounded Rectangle 9"/>
          <p:cNvSpPr/>
          <p:nvPr/>
        </p:nvSpPr>
        <p:spPr>
          <a:xfrm>
            <a:off x="566928" y="2971799"/>
            <a:ext cx="53460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76656" y="3300475"/>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2</a:t>
            </a:r>
          </a:p>
        </p:txBody>
      </p:sp>
      <p:sp>
        <p:nvSpPr>
          <p:cNvPr id="12" name="TextBox 11"/>
          <p:cNvSpPr txBox="1"/>
          <p:nvPr/>
        </p:nvSpPr>
        <p:spPr>
          <a:xfrm>
            <a:off x="1133856" y="2990087"/>
            <a:ext cx="46602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Five registered tools are built this way, all from the same generated sheets.</a:t>
            </a:r>
          </a:p>
        </p:txBody>
      </p:sp>
      <p:sp>
        <p:nvSpPr>
          <p:cNvPr id="13" name="Rounded Rectangle 12"/>
          <p:cNvSpPr/>
          <p:nvPr/>
        </p:nvSpPr>
        <p:spPr>
          <a:xfrm>
            <a:off x="566928" y="4069079"/>
            <a:ext cx="53460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76656" y="4397755"/>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3</a:t>
            </a:r>
          </a:p>
        </p:txBody>
      </p:sp>
      <p:sp>
        <p:nvSpPr>
          <p:cNvPr id="15" name="TextBox 14"/>
          <p:cNvSpPr txBox="1"/>
          <p:nvPr/>
        </p:nvSpPr>
        <p:spPr>
          <a:xfrm>
            <a:off x="1133856" y="4087367"/>
            <a:ext cx="46602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Step five, validate. First check. Every select has choices.</a:t>
            </a:r>
          </a:p>
        </p:txBody>
      </p:sp>
      <p:sp>
        <p:nvSpPr>
          <p:cNvPr id="16" name="Rounded Rectangle 15"/>
          <p:cNvSpPr/>
          <p:nvPr/>
        </p:nvSpPr>
        <p:spPr>
          <a:xfrm>
            <a:off x="566928" y="5166359"/>
            <a:ext cx="53460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6656" y="5495035"/>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4</a:t>
            </a:r>
          </a:p>
        </p:txBody>
      </p:sp>
      <p:sp>
        <p:nvSpPr>
          <p:cNvPr id="18" name="TextBox 17"/>
          <p:cNvSpPr txBox="1"/>
          <p:nvPr/>
        </p:nvSpPr>
        <p:spPr>
          <a:xfrm>
            <a:off x="1133856" y="5184647"/>
            <a:ext cx="46602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Second. No duplicate question names.</a:t>
            </a:r>
          </a:p>
        </p:txBody>
      </p:sp>
      <p:sp>
        <p:nvSpPr>
          <p:cNvPr id="19" name="Rounded Rectangle 18"/>
          <p:cNvSpPr/>
          <p:nvPr/>
        </p:nvSpPr>
        <p:spPr>
          <a:xfrm>
            <a:off x="6278727" y="1874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88455" y="2226055"/>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5</a:t>
            </a:r>
          </a:p>
        </p:txBody>
      </p:sp>
      <p:sp>
        <p:nvSpPr>
          <p:cNvPr id="21" name="TextBox 20"/>
          <p:cNvSpPr txBox="1"/>
          <p:nvPr/>
        </p:nvSpPr>
        <p:spPr>
          <a:xfrm>
            <a:off x="6845655" y="1892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Third. Expressions are balanced, parentheses and quotes.</a:t>
            </a:r>
          </a:p>
        </p:txBody>
      </p:sp>
      <p:sp>
        <p:nvSpPr>
          <p:cNvPr id="22" name="Rounded Rectangle 21"/>
          <p:cNvSpPr/>
          <p:nvPr/>
        </p:nvSpPr>
        <p:spPr>
          <a:xfrm>
            <a:off x="6278727" y="3017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88455" y="3369055"/>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6</a:t>
            </a:r>
          </a:p>
        </p:txBody>
      </p:sp>
      <p:sp>
        <p:nvSpPr>
          <p:cNvPr id="24" name="TextBox 23"/>
          <p:cNvSpPr txBox="1"/>
          <p:nvPr/>
        </p:nvSpPr>
        <p:spPr>
          <a:xfrm>
            <a:off x="6845655" y="3035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Fourth. No unreachable comparisons. Every field equals value must match a real choice.</a:t>
            </a:r>
          </a:p>
        </p:txBody>
      </p:sp>
      <p:sp>
        <p:nvSpPr>
          <p:cNvPr id="25" name="Rounded Rectangle 24"/>
          <p:cNvSpPr/>
          <p:nvPr/>
        </p:nvSpPr>
        <p:spPr>
          <a:xfrm>
            <a:off x="6278727" y="4160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388455" y="4512055"/>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7</a:t>
            </a:r>
          </a:p>
        </p:txBody>
      </p:sp>
      <p:sp>
        <p:nvSpPr>
          <p:cNvPr id="27" name="TextBox 26"/>
          <p:cNvSpPr txBox="1"/>
          <p:nvPr/>
        </p:nvSpPr>
        <p:spPr>
          <a:xfrm>
            <a:off x="6845655" y="4178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This is the check that catches the silent bug. With the old misspelling the comparison could never be true, and Kobo would deploy it happily.</a:t>
            </a:r>
          </a:p>
        </p:txBody>
      </p:sp>
      <p:sp>
        <p:nvSpPr>
          <p:cNvPr id="28" name="TextBox 27"/>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29" name="TextBox 28"/>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57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57A8E8"/>
                </a:solidFill>
                <a:latin typeface="Segoe UI"/>
              </a:rPr>
              <a:t>STEP 5 · DEPLOY</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Publish to Kobo and open the live form</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Part 1 · Process</a:t>
            </a:r>
          </a:p>
        </p:txBody>
      </p:sp>
      <p:sp>
        <p:nvSpPr>
          <p:cNvPr id="7" name="TextBox 6"/>
          <p:cNvSpPr txBox="1"/>
          <p:nvPr/>
        </p:nvSpPr>
        <p:spPr>
          <a:xfrm>
            <a:off x="566928" y="1783080"/>
            <a:ext cx="11057839" cy="457200"/>
          </a:xfrm>
          <a:prstGeom prst="rect">
            <a:avLst/>
          </a:prstGeom>
          <a:noFill/>
        </p:spPr>
        <p:txBody>
          <a:bodyPr wrap="square" anchor="t">
            <a:spAutoFit/>
          </a:bodyPr>
          <a:lstStyle/>
          <a:p>
            <a:pPr algn="l">
              <a:lnSpc>
                <a:spcPct val="100000"/>
              </a:lnSpc>
              <a:spcBef>
                <a:spcPts val="0"/>
              </a:spcBef>
              <a:spcAft>
                <a:spcPts val="400"/>
              </a:spcAft>
            </a:pPr>
            <a:r>
              <a:rPr sz="1300" b="0" i="1">
                <a:solidFill>
                  <a:srgbClr val="93ABC9"/>
                </a:solidFill>
                <a:latin typeface="Segoe UI"/>
              </a:rPr>
              <a:t>Only forms that passed validation are uploaded.</a:t>
            </a:r>
          </a:p>
        </p:txBody>
      </p:sp>
      <p:sp>
        <p:nvSpPr>
          <p:cNvPr id="8" name="Rounded Rectangle 7"/>
          <p:cNvSpPr/>
          <p:nvPr/>
        </p:nvSpPr>
        <p:spPr>
          <a:xfrm>
            <a:off x="566928" y="2240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76656" y="2591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1</a:t>
            </a:r>
          </a:p>
        </p:txBody>
      </p:sp>
      <p:sp>
        <p:nvSpPr>
          <p:cNvPr id="10" name="TextBox 9"/>
          <p:cNvSpPr txBox="1"/>
          <p:nvPr/>
        </p:nvSpPr>
        <p:spPr>
          <a:xfrm>
            <a:off x="1133856" y="2258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Step five, deploy. The sheet is flushed, exported as x l s x, imported through the Kobo A.P.I., and a new version is deployed.</a:t>
            </a:r>
          </a:p>
        </p:txBody>
      </p:sp>
      <p:sp>
        <p:nvSpPr>
          <p:cNvPr id="11" name="Rounded Rectangle 10"/>
          <p:cNvSpPr/>
          <p:nvPr/>
        </p:nvSpPr>
        <p:spPr>
          <a:xfrm>
            <a:off x="566928" y="3383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76656" y="3734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2</a:t>
            </a:r>
          </a:p>
        </p:txBody>
      </p:sp>
      <p:sp>
        <p:nvSpPr>
          <p:cNvPr id="13" name="TextBox 12"/>
          <p:cNvSpPr txBox="1"/>
          <p:nvPr/>
        </p:nvSpPr>
        <p:spPr>
          <a:xfrm>
            <a:off x="1133856" y="3401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Here is the live form on a phone. The enumerator starts with the programme.</a:t>
            </a:r>
          </a:p>
        </p:txBody>
      </p:sp>
      <p:sp>
        <p:nvSpPr>
          <p:cNvPr id="14" name="Rounded Rectangle 13"/>
          <p:cNvSpPr/>
          <p:nvPr/>
        </p:nvSpPr>
        <p:spPr>
          <a:xfrm>
            <a:off x="566928" y="4526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76656" y="4877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3</a:t>
            </a:r>
          </a:p>
        </p:txBody>
      </p:sp>
      <p:sp>
        <p:nvSpPr>
          <p:cNvPr id="16" name="TextBox 15"/>
          <p:cNvSpPr txBox="1"/>
          <p:nvPr/>
        </p:nvSpPr>
        <p:spPr>
          <a:xfrm>
            <a:off x="1133856" y="4544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They choose the county. Makueni.</a:t>
            </a:r>
          </a:p>
        </p:txBody>
      </p:sp>
      <p:sp>
        <p:nvSpPr>
          <p:cNvPr id="17" name="Rounded Rectangle 16"/>
          <p:cNvSpPr/>
          <p:nvPr/>
        </p:nvSpPr>
        <p:spPr>
          <a:xfrm>
            <a:off x="6278727" y="2240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88455" y="2591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4</a:t>
            </a:r>
          </a:p>
        </p:txBody>
      </p:sp>
      <p:sp>
        <p:nvSpPr>
          <p:cNvPr id="19" name="TextBox 18"/>
          <p:cNvSpPr txBox="1"/>
          <p:nvPr/>
        </p:nvSpPr>
        <p:spPr>
          <a:xfrm>
            <a:off x="6845655" y="2258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Then the facility, using the canonical spelling.</a:t>
            </a:r>
          </a:p>
        </p:txBody>
      </p:sp>
      <p:sp>
        <p:nvSpPr>
          <p:cNvPr id="20" name="Rounded Rectangle 19"/>
          <p:cNvSpPr/>
          <p:nvPr/>
        </p:nvSpPr>
        <p:spPr>
          <a:xfrm>
            <a:off x="6278727" y="3383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88455" y="3734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5</a:t>
            </a:r>
          </a:p>
        </p:txBody>
      </p:sp>
      <p:sp>
        <p:nvSpPr>
          <p:cNvPr id="22" name="TextBox 21"/>
          <p:cNvSpPr txBox="1"/>
          <p:nvPr/>
        </p:nvSpPr>
        <p:spPr>
          <a:xfrm>
            <a:off x="6845655" y="3401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And the mentee list opens with Grace Hopper selectable.</a:t>
            </a:r>
          </a:p>
        </p:txBody>
      </p:sp>
      <p:sp>
        <p:nvSpPr>
          <p:cNvPr id="23" name="Rounded Rectangle 22"/>
          <p:cNvSpPr/>
          <p:nvPr/>
        </p:nvSpPr>
        <p:spPr>
          <a:xfrm>
            <a:off x="6278727" y="4526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388455" y="4877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6</a:t>
            </a:r>
          </a:p>
        </p:txBody>
      </p:sp>
      <p:sp>
        <p:nvSpPr>
          <p:cNvPr id="25" name="TextBox 24"/>
          <p:cNvSpPr txBox="1"/>
          <p:nvPr/>
        </p:nvSpPr>
        <p:spPr>
          <a:xfrm>
            <a:off x="6845655" y="4544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Clean I.D.s keep the Power B.I. joins working, attrition is applied automatically, and it all runs from one trigger.</a:t>
            </a:r>
          </a:p>
        </p:txBody>
      </p:sp>
      <p:sp>
        <p:nvSpPr>
          <p:cNvPr id="26" name="TextBox 25"/>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27" name="TextBox 26"/>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468880"/>
            <a:ext cx="914400" cy="63500"/>
          </a:xfrm>
          <a:prstGeom prst="rect">
            <a:avLst/>
          </a:prstGeom>
          <a:solidFill>
            <a:srgbClr val="2FA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0"/>
            <a:ext cx="11057839" cy="457200"/>
          </a:xfrm>
          <a:prstGeom prst="rect">
            <a:avLst/>
          </a:prstGeom>
          <a:noFill/>
        </p:spPr>
        <p:txBody>
          <a:bodyPr wrap="square" anchor="t">
            <a:spAutoFit/>
          </a:bodyPr>
          <a:lstStyle/>
          <a:p>
            <a:pPr algn="l">
              <a:lnSpc>
                <a:spcPct val="100000"/>
              </a:lnSpc>
              <a:spcBef>
                <a:spcPts val="0"/>
              </a:spcBef>
              <a:spcAft>
                <a:spcPts val="400"/>
              </a:spcAft>
            </a:pPr>
            <a:r>
              <a:rPr sz="1300" b="1" i="0">
                <a:solidFill>
                  <a:srgbClr val="2FA36B"/>
                </a:solidFill>
                <a:latin typeface="Segoe UI"/>
              </a:rPr>
              <a:t>PART 2</a:t>
            </a:r>
          </a:p>
        </p:txBody>
      </p:sp>
      <p:sp>
        <p:nvSpPr>
          <p:cNvPr id="5" name="TextBox 4"/>
          <p:cNvSpPr txBox="1"/>
          <p:nvPr/>
        </p:nvSpPr>
        <p:spPr>
          <a:xfrm>
            <a:off x="566928" y="2606040"/>
            <a:ext cx="11057839" cy="1097280"/>
          </a:xfrm>
          <a:prstGeom prst="rect">
            <a:avLst/>
          </a:prstGeom>
          <a:noFill/>
        </p:spPr>
        <p:txBody>
          <a:bodyPr wrap="square" anchor="t">
            <a:spAutoFit/>
          </a:bodyPr>
          <a:lstStyle/>
          <a:p>
            <a:pPr algn="l">
              <a:lnSpc>
                <a:spcPct val="100000"/>
              </a:lnSpc>
              <a:spcBef>
                <a:spcPts val="0"/>
              </a:spcBef>
              <a:spcAft>
                <a:spcPts val="400"/>
              </a:spcAft>
            </a:pPr>
            <a:r>
              <a:rPr sz="3800" b="1" i="0">
                <a:solidFill>
                  <a:srgbClr val="FFFFFF"/>
                </a:solidFill>
                <a:latin typeface="Segoe UI"/>
              </a:rPr>
              <a:t>EmONC Curriculum Tracking</a:t>
            </a:r>
          </a:p>
        </p:txBody>
      </p:sp>
      <p:sp>
        <p:nvSpPr>
          <p:cNvPr id="6" name="TextBox 5"/>
          <p:cNvSpPr txBox="1"/>
          <p:nvPr/>
        </p:nvSpPr>
        <p:spPr>
          <a:xfrm>
            <a:off x="566928" y="3794760"/>
            <a:ext cx="9601200" cy="1097280"/>
          </a:xfrm>
          <a:prstGeom prst="rect">
            <a:avLst/>
          </a:prstGeom>
          <a:noFill/>
        </p:spPr>
        <p:txBody>
          <a:bodyPr wrap="square" anchor="t">
            <a:spAutoFit/>
          </a:bodyPr>
          <a:lstStyle/>
          <a:p>
            <a:pPr algn="l">
              <a:lnSpc>
                <a:spcPct val="120000"/>
              </a:lnSpc>
              <a:spcBef>
                <a:spcPts val="0"/>
              </a:spcBef>
              <a:spcAft>
                <a:spcPts val="400"/>
              </a:spcAft>
            </a:pPr>
            <a:r>
              <a:rPr sz="1700" b="0" i="0">
                <a:solidFill>
                  <a:srgbClr val="93ABC9"/>
                </a:solidFill>
                <a:latin typeface="Segoe UI"/>
              </a:rPr>
              <a:t>Deep dive: watch one form assemble, then upload and deploy — Jane Wanjiku / Kirinyaga</a:t>
            </a:r>
          </a:p>
        </p:txBody>
      </p:sp>
      <p:sp>
        <p:nvSpPr>
          <p:cNvPr id="7" name="Rounded Rectangle 6"/>
          <p:cNvSpPr/>
          <p:nvPr/>
        </p:nvSpPr>
        <p:spPr>
          <a:xfrm>
            <a:off x="566928" y="1234440"/>
            <a:ext cx="274320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2FA36B"/>
                </a:solidFill>
                <a:latin typeface="Segoe UI"/>
              </a:rPr>
              <a:t>Part 2 · emonc_ctf</a:t>
            </a:r>
          </a:p>
        </p:txBody>
      </p:sp>
      <p:sp>
        <p:nvSpPr>
          <p:cNvPr id="8" name="TextBox 7"/>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9" name="TextBox 8"/>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2FA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OPEN FORM</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Prepare the three empty tabs</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Part 2 · emonc_ctf</a:t>
            </a:r>
          </a:p>
        </p:txBody>
      </p:sp>
      <p:sp>
        <p:nvSpPr>
          <p:cNvPr id="7" name="Rounded Rectangle 6"/>
          <p:cNvSpPr/>
          <p:nvPr/>
        </p:nvSpPr>
        <p:spPr>
          <a:xfrm>
            <a:off x="566928" y="1874519"/>
            <a:ext cx="110578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76656" y="2226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1</a:t>
            </a:r>
          </a:p>
        </p:txBody>
      </p:sp>
      <p:sp>
        <p:nvSpPr>
          <p:cNvPr id="9" name="TextBox 8"/>
          <p:cNvSpPr txBox="1"/>
          <p:nvPr/>
        </p:nvSpPr>
        <p:spPr>
          <a:xfrm>
            <a:off x="1133856" y="1892807"/>
            <a:ext cx="103720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 builder opens the saved form spreadsheet and prepares three empty tabs. Survey, choices, and settings.</a:t>
            </a:r>
          </a:p>
        </p:txBody>
      </p:sp>
      <p:sp>
        <p:nvSpPr>
          <p:cNvPr id="10" name="Rounded Rectangle 9"/>
          <p:cNvSpPr/>
          <p:nvPr/>
        </p:nvSpPr>
        <p:spPr>
          <a:xfrm>
            <a:off x="566928" y="3017519"/>
            <a:ext cx="110578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76656" y="3369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2</a:t>
            </a:r>
          </a:p>
        </p:txBody>
      </p:sp>
      <p:sp>
        <p:nvSpPr>
          <p:cNvPr id="12" name="TextBox 11"/>
          <p:cNvSpPr txBox="1"/>
          <p:nvPr/>
        </p:nvSpPr>
        <p:spPr>
          <a:xfrm>
            <a:off x="1133856" y="3035807"/>
            <a:ext cx="103720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It pulls the generated EmONC lists, and adds the sixteen counties and the activity lists authored inside the builder.</a:t>
            </a:r>
          </a:p>
        </p:txBody>
      </p:sp>
      <p:sp>
        <p:nvSpPr>
          <p:cNvPr id="13" name="Rounded Rectangle 12"/>
          <p:cNvSpPr/>
          <p:nvPr/>
        </p:nvSpPr>
        <p:spPr>
          <a:xfrm>
            <a:off x="566928" y="4160519"/>
            <a:ext cx="110578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76656" y="4512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3</a:t>
            </a:r>
          </a:p>
        </p:txBody>
      </p:sp>
      <p:sp>
        <p:nvSpPr>
          <p:cNvPr id="15" name="TextBox 14"/>
          <p:cNvSpPr txBox="1"/>
          <p:nvPr/>
        </p:nvSpPr>
        <p:spPr>
          <a:xfrm>
            <a:off x="1133856" y="4178807"/>
            <a:ext cx="103720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Choices are written first, so every select already has its list before the survey ever references it.</a:t>
            </a:r>
          </a:p>
        </p:txBody>
      </p:sp>
      <p:sp>
        <p:nvSpPr>
          <p:cNvPr id="16" name="TextBox 15"/>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17" name="TextBox 16"/>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2FA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CHOICES</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Write the choices tab, row by row</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Part 2 · emonc_ctf</a:t>
            </a:r>
          </a:p>
        </p:txBody>
      </p:sp>
      <p:sp>
        <p:nvSpPr>
          <p:cNvPr id="7" name="Rounded Rectangle 6"/>
          <p:cNvSpPr/>
          <p:nvPr/>
        </p:nvSpPr>
        <p:spPr>
          <a:xfrm>
            <a:off x="566928" y="1874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76656" y="2226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1</a:t>
            </a:r>
          </a:p>
        </p:txBody>
      </p:sp>
      <p:sp>
        <p:nvSpPr>
          <p:cNvPr id="9" name="TextBox 8"/>
          <p:cNvSpPr txBox="1"/>
          <p:nvPr/>
        </p:nvSpPr>
        <p:spPr>
          <a:xfrm>
            <a:off x="1133856" y="1892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Now the choices tab is being written.</a:t>
            </a:r>
          </a:p>
        </p:txBody>
      </p:sp>
      <p:sp>
        <p:nvSpPr>
          <p:cNvPr id="10" name="Rounded Rectangle 9"/>
          <p:cNvSpPr/>
          <p:nvPr/>
        </p:nvSpPr>
        <p:spPr>
          <a:xfrm>
            <a:off x="566928" y="3017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76656" y="3369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2</a:t>
            </a:r>
          </a:p>
        </p:txBody>
      </p:sp>
      <p:sp>
        <p:nvSpPr>
          <p:cNvPr id="12" name="TextBox 11"/>
          <p:cNvSpPr txBox="1"/>
          <p:nvPr/>
        </p:nvSpPr>
        <p:spPr>
          <a:xfrm>
            <a:off x="1133856" y="3035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Counties land first. Kirinyaga, Makueni, and fourteen more.</a:t>
            </a:r>
          </a:p>
        </p:txBody>
      </p:sp>
      <p:sp>
        <p:nvSpPr>
          <p:cNvPr id="13" name="Rounded Rectangle 12"/>
          <p:cNvSpPr/>
          <p:nvPr/>
        </p:nvSpPr>
        <p:spPr>
          <a:xfrm>
            <a:off x="566928" y="4160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76656" y="4512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3</a:t>
            </a:r>
          </a:p>
        </p:txBody>
      </p:sp>
      <p:sp>
        <p:nvSpPr>
          <p:cNvPr id="15" name="TextBox 14"/>
          <p:cNvSpPr txBox="1"/>
          <p:nvPr/>
        </p:nvSpPr>
        <p:spPr>
          <a:xfrm>
            <a:off x="1133856" y="4178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Then the Kirinyaga facilities, including Kerugoya County Referral Hospital.</a:t>
            </a:r>
          </a:p>
        </p:txBody>
      </p:sp>
      <p:sp>
        <p:nvSpPr>
          <p:cNvPr id="16" name="Rounded Rectangle 15"/>
          <p:cNvSpPr/>
          <p:nvPr/>
        </p:nvSpPr>
        <p:spPr>
          <a:xfrm>
            <a:off x="6278727" y="1874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88455" y="2226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4</a:t>
            </a:r>
          </a:p>
        </p:txBody>
      </p:sp>
      <p:sp>
        <p:nvSpPr>
          <p:cNvPr id="18" name="TextBox 17"/>
          <p:cNvSpPr txBox="1"/>
          <p:nvPr/>
        </p:nvSpPr>
        <p:spPr>
          <a:xfrm>
            <a:off x="6845655" y="1892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Then the mentees attached to that facility. Here is Jane Wanjiku.</a:t>
            </a:r>
          </a:p>
        </p:txBody>
      </p:sp>
      <p:sp>
        <p:nvSpPr>
          <p:cNvPr id="19" name="Rounded Rectangle 18"/>
          <p:cNvSpPr/>
          <p:nvPr/>
        </p:nvSpPr>
        <p:spPr>
          <a:xfrm>
            <a:off x="6278727" y="3017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88455" y="3369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5</a:t>
            </a:r>
          </a:p>
        </p:txBody>
      </p:sp>
      <p:sp>
        <p:nvSpPr>
          <p:cNvPr id="21" name="TextBox 20"/>
          <p:cNvSpPr txBox="1"/>
          <p:nvPr/>
        </p:nvSpPr>
        <p:spPr>
          <a:xfrm>
            <a:off x="6845655" y="3035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Then the activity types and the curriculum modules.</a:t>
            </a:r>
          </a:p>
        </p:txBody>
      </p:sp>
      <p:sp>
        <p:nvSpPr>
          <p:cNvPr id="22" name="Rounded Rectangle 21"/>
          <p:cNvSpPr/>
          <p:nvPr/>
        </p:nvSpPr>
        <p:spPr>
          <a:xfrm>
            <a:off x="6278727" y="4160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88455" y="4512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6</a:t>
            </a:r>
          </a:p>
        </p:txBody>
      </p:sp>
      <p:sp>
        <p:nvSpPr>
          <p:cNvPr id="24" name="TextBox 23"/>
          <p:cNvSpPr txBox="1"/>
          <p:nvPr/>
        </p:nvSpPr>
        <p:spPr>
          <a:xfrm>
            <a:off x="6845655" y="4178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 choices tab is complete.</a:t>
            </a:r>
          </a:p>
        </p:txBody>
      </p:sp>
      <p:sp>
        <p:nvSpPr>
          <p:cNvPr id="25" name="TextBox 24"/>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26" name="TextBox 25"/>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2FA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SURVEY</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Write the survey tab and the relevance cascade</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Part 2 · emonc_ctf</a:t>
            </a:r>
          </a:p>
        </p:txBody>
      </p:sp>
      <p:sp>
        <p:nvSpPr>
          <p:cNvPr id="7" name="Rounded Rectangle 6"/>
          <p:cNvSpPr/>
          <p:nvPr/>
        </p:nvSpPr>
        <p:spPr>
          <a:xfrm>
            <a:off x="566928" y="1874519"/>
            <a:ext cx="53460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76656" y="220319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1</a:t>
            </a:r>
          </a:p>
        </p:txBody>
      </p:sp>
      <p:sp>
        <p:nvSpPr>
          <p:cNvPr id="9" name="TextBox 8"/>
          <p:cNvSpPr txBox="1"/>
          <p:nvPr/>
        </p:nvSpPr>
        <p:spPr>
          <a:xfrm>
            <a:off x="1133856" y="1892807"/>
            <a:ext cx="46602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Now the survey tab.</a:t>
            </a:r>
          </a:p>
        </p:txBody>
      </p:sp>
      <p:sp>
        <p:nvSpPr>
          <p:cNvPr id="10" name="Rounded Rectangle 9"/>
          <p:cNvSpPr/>
          <p:nvPr/>
        </p:nvSpPr>
        <p:spPr>
          <a:xfrm>
            <a:off x="566928" y="2971799"/>
            <a:ext cx="53460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76656" y="330047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2</a:t>
            </a:r>
          </a:p>
        </p:txBody>
      </p:sp>
      <p:sp>
        <p:nvSpPr>
          <p:cNvPr id="12" name="TextBox 11"/>
          <p:cNvSpPr txBox="1"/>
          <p:nvPr/>
        </p:nvSpPr>
        <p:spPr>
          <a:xfrm>
            <a:off x="1133856" y="2990087"/>
            <a:ext cx="46602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 introduction group and its note come first.</a:t>
            </a:r>
          </a:p>
        </p:txBody>
      </p:sp>
      <p:sp>
        <p:nvSpPr>
          <p:cNvPr id="13" name="Rounded Rectangle 12"/>
          <p:cNvSpPr/>
          <p:nvPr/>
        </p:nvSpPr>
        <p:spPr>
          <a:xfrm>
            <a:off x="566928" y="4069079"/>
            <a:ext cx="53460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76656" y="43977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3</a:t>
            </a:r>
          </a:p>
        </p:txBody>
      </p:sp>
      <p:sp>
        <p:nvSpPr>
          <p:cNvPr id="15" name="TextBox 14"/>
          <p:cNvSpPr txBox="1"/>
          <p:nvPr/>
        </p:nvSpPr>
        <p:spPr>
          <a:xfrm>
            <a:off x="1133856" y="4087367"/>
            <a:ext cx="46602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Then the mentor name and the session date.</a:t>
            </a:r>
          </a:p>
        </p:txBody>
      </p:sp>
      <p:sp>
        <p:nvSpPr>
          <p:cNvPr id="16" name="Rounded Rectangle 15"/>
          <p:cNvSpPr/>
          <p:nvPr/>
        </p:nvSpPr>
        <p:spPr>
          <a:xfrm>
            <a:off x="566928" y="5166359"/>
            <a:ext cx="53460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6656" y="549503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4</a:t>
            </a:r>
          </a:p>
        </p:txBody>
      </p:sp>
      <p:sp>
        <p:nvSpPr>
          <p:cNvPr id="18" name="TextBox 17"/>
          <p:cNvSpPr txBox="1"/>
          <p:nvPr/>
        </p:nvSpPr>
        <p:spPr>
          <a:xfrm>
            <a:off x="1133856" y="5184647"/>
            <a:ext cx="46602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 county select appears once the date is filled.</a:t>
            </a:r>
          </a:p>
        </p:txBody>
      </p:sp>
      <p:sp>
        <p:nvSpPr>
          <p:cNvPr id="19" name="Rounded Rectangle 18"/>
          <p:cNvSpPr/>
          <p:nvPr/>
        </p:nvSpPr>
        <p:spPr>
          <a:xfrm>
            <a:off x="6278727" y="1874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88455" y="2226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5</a:t>
            </a:r>
          </a:p>
        </p:txBody>
      </p:sp>
      <p:sp>
        <p:nvSpPr>
          <p:cNvPr id="21" name="TextBox 20"/>
          <p:cNvSpPr txBox="1"/>
          <p:nvPr/>
        </p:nvSpPr>
        <p:spPr>
          <a:xfrm>
            <a:off x="6845655" y="1892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 facility select is relevant only when the county is Kirinyaga.</a:t>
            </a:r>
          </a:p>
        </p:txBody>
      </p:sp>
      <p:sp>
        <p:nvSpPr>
          <p:cNvPr id="22" name="Rounded Rectangle 21"/>
          <p:cNvSpPr/>
          <p:nvPr/>
        </p:nvSpPr>
        <p:spPr>
          <a:xfrm>
            <a:off x="6278727" y="3017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88455" y="3369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6</a:t>
            </a:r>
          </a:p>
        </p:txBody>
      </p:sp>
      <p:sp>
        <p:nvSpPr>
          <p:cNvPr id="24" name="TextBox 23"/>
          <p:cNvSpPr txBox="1"/>
          <p:nvPr/>
        </p:nvSpPr>
        <p:spPr>
          <a:xfrm>
            <a:off x="6845655" y="3035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And the mentee multi select opens only for Kerugoya. This is the cascade being written.</a:t>
            </a:r>
          </a:p>
        </p:txBody>
      </p:sp>
      <p:sp>
        <p:nvSpPr>
          <p:cNvPr id="25" name="Rounded Rectangle 24"/>
          <p:cNvSpPr/>
          <p:nvPr/>
        </p:nvSpPr>
        <p:spPr>
          <a:xfrm>
            <a:off x="6278727" y="4160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388455" y="4512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7</a:t>
            </a:r>
          </a:p>
        </p:txBody>
      </p:sp>
      <p:sp>
        <p:nvSpPr>
          <p:cNvPr id="27" name="TextBox 26"/>
          <p:cNvSpPr txBox="1"/>
          <p:nvPr/>
        </p:nvSpPr>
        <p:spPr>
          <a:xfrm>
            <a:off x="6845655" y="4178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Finally the activity section. The survey tab is complete.</a:t>
            </a:r>
          </a:p>
        </p:txBody>
      </p:sp>
      <p:sp>
        <p:nvSpPr>
          <p:cNvPr id="28" name="TextBox 27"/>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29" name="TextBox 28"/>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2FA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OUTCOME</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The finished form spreadsheet</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Part 2 · emonc_ctf</a:t>
            </a:r>
          </a:p>
        </p:txBody>
      </p:sp>
      <p:sp>
        <p:nvSpPr>
          <p:cNvPr id="7" name="Rounded Rectangle 6"/>
          <p:cNvSpPr/>
          <p:nvPr/>
        </p:nvSpPr>
        <p:spPr>
          <a:xfrm>
            <a:off x="566928" y="1874519"/>
            <a:ext cx="110578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76656" y="220319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1</a:t>
            </a:r>
          </a:p>
        </p:txBody>
      </p:sp>
      <p:sp>
        <p:nvSpPr>
          <p:cNvPr id="9" name="TextBox 8"/>
          <p:cNvSpPr txBox="1"/>
          <p:nvPr/>
        </p:nvSpPr>
        <p:spPr>
          <a:xfrm>
            <a:off x="1133856" y="1892807"/>
            <a:ext cx="103720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 resultant outcome. A finished form spreadsheet, with settings written.</a:t>
            </a:r>
          </a:p>
        </p:txBody>
      </p:sp>
      <p:sp>
        <p:nvSpPr>
          <p:cNvPr id="10" name="Rounded Rectangle 9"/>
          <p:cNvSpPr/>
          <p:nvPr/>
        </p:nvSpPr>
        <p:spPr>
          <a:xfrm>
            <a:off x="566928" y="2971799"/>
            <a:ext cx="110578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76656" y="330047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2</a:t>
            </a:r>
          </a:p>
        </p:txBody>
      </p:sp>
      <p:sp>
        <p:nvSpPr>
          <p:cNvPr id="12" name="TextBox 11"/>
          <p:cNvSpPr txBox="1"/>
          <p:nvPr/>
        </p:nvSpPr>
        <p:spPr>
          <a:xfrm>
            <a:off x="1133856" y="2990087"/>
            <a:ext cx="103720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One hundred and forty eight survey rows, three hundred and twelve choice rows, three tabs ready.</a:t>
            </a:r>
          </a:p>
        </p:txBody>
      </p:sp>
      <p:sp>
        <p:nvSpPr>
          <p:cNvPr id="13" name="Rounded Rectangle 12"/>
          <p:cNvSpPr/>
          <p:nvPr/>
        </p:nvSpPr>
        <p:spPr>
          <a:xfrm>
            <a:off x="566928" y="4069079"/>
            <a:ext cx="110578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76656" y="43977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3</a:t>
            </a:r>
          </a:p>
        </p:txBody>
      </p:sp>
      <p:sp>
        <p:nvSpPr>
          <p:cNvPr id="15" name="TextBox 14"/>
          <p:cNvSpPr txBox="1"/>
          <p:nvPr/>
        </p:nvSpPr>
        <p:spPr>
          <a:xfrm>
            <a:off x="1133856" y="4087367"/>
            <a:ext cx="103720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 form now holds the mentor details, the county, the facility, the mentees, and the activity modules.</a:t>
            </a:r>
          </a:p>
        </p:txBody>
      </p:sp>
      <p:sp>
        <p:nvSpPr>
          <p:cNvPr id="16" name="Rounded Rectangle 15"/>
          <p:cNvSpPr/>
          <p:nvPr/>
        </p:nvSpPr>
        <p:spPr>
          <a:xfrm>
            <a:off x="566928" y="5166359"/>
            <a:ext cx="110578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6656" y="549503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4</a:t>
            </a:r>
          </a:p>
        </p:txBody>
      </p:sp>
      <p:sp>
        <p:nvSpPr>
          <p:cNvPr id="18" name="TextBox 17"/>
          <p:cNvSpPr txBox="1"/>
          <p:nvPr/>
        </p:nvSpPr>
        <p:spPr>
          <a:xfrm>
            <a:off x="1133856" y="5184647"/>
            <a:ext cx="103720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 build is complete. Next, validate, export, upload, and deploy.</a:t>
            </a:r>
          </a:p>
        </p:txBody>
      </p:sp>
      <p:sp>
        <p:nvSpPr>
          <p:cNvPr id="19" name="TextBox 18"/>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20" name="TextBox 19"/>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2FA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VALIDATE &amp; UPLOAD</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Check the form, export xlsx and import to Kobo</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Part 2 · emonc_ctf</a:t>
            </a:r>
          </a:p>
        </p:txBody>
      </p:sp>
      <p:sp>
        <p:nvSpPr>
          <p:cNvPr id="7" name="Rounded Rectangle 6"/>
          <p:cNvSpPr/>
          <p:nvPr/>
        </p:nvSpPr>
        <p:spPr>
          <a:xfrm>
            <a:off x="566928" y="1874519"/>
            <a:ext cx="53460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76656" y="220319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1</a:t>
            </a:r>
          </a:p>
        </p:txBody>
      </p:sp>
      <p:sp>
        <p:nvSpPr>
          <p:cNvPr id="9" name="TextBox 8"/>
          <p:cNvSpPr txBox="1"/>
          <p:nvPr/>
        </p:nvSpPr>
        <p:spPr>
          <a:xfrm>
            <a:off x="1133856" y="1892807"/>
            <a:ext cx="46602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Validation begins. Every select has choices.</a:t>
            </a:r>
          </a:p>
        </p:txBody>
      </p:sp>
      <p:sp>
        <p:nvSpPr>
          <p:cNvPr id="10" name="Rounded Rectangle 9"/>
          <p:cNvSpPr/>
          <p:nvPr/>
        </p:nvSpPr>
        <p:spPr>
          <a:xfrm>
            <a:off x="566928" y="2971799"/>
            <a:ext cx="53460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76656" y="330047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2</a:t>
            </a:r>
          </a:p>
        </p:txBody>
      </p:sp>
      <p:sp>
        <p:nvSpPr>
          <p:cNvPr id="12" name="TextBox 11"/>
          <p:cNvSpPr txBox="1"/>
          <p:nvPr/>
        </p:nvSpPr>
        <p:spPr>
          <a:xfrm>
            <a:off x="1133856" y="2990087"/>
            <a:ext cx="46602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No duplicate question names.</a:t>
            </a:r>
          </a:p>
        </p:txBody>
      </p:sp>
      <p:sp>
        <p:nvSpPr>
          <p:cNvPr id="13" name="Rounded Rectangle 12"/>
          <p:cNvSpPr/>
          <p:nvPr/>
        </p:nvSpPr>
        <p:spPr>
          <a:xfrm>
            <a:off x="566928" y="4069079"/>
            <a:ext cx="53460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76656" y="43977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3</a:t>
            </a:r>
          </a:p>
        </p:txBody>
      </p:sp>
      <p:sp>
        <p:nvSpPr>
          <p:cNvPr id="15" name="TextBox 14"/>
          <p:cNvSpPr txBox="1"/>
          <p:nvPr/>
        </p:nvSpPr>
        <p:spPr>
          <a:xfrm>
            <a:off x="1133856" y="4087367"/>
            <a:ext cx="46602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Expressions are balanced.</a:t>
            </a:r>
          </a:p>
        </p:txBody>
      </p:sp>
      <p:sp>
        <p:nvSpPr>
          <p:cNvPr id="16" name="Rounded Rectangle 15"/>
          <p:cNvSpPr/>
          <p:nvPr/>
        </p:nvSpPr>
        <p:spPr>
          <a:xfrm>
            <a:off x="566928" y="5166359"/>
            <a:ext cx="53460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6656" y="549503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4</a:t>
            </a:r>
          </a:p>
        </p:txBody>
      </p:sp>
      <p:sp>
        <p:nvSpPr>
          <p:cNvPr id="18" name="TextBox 17"/>
          <p:cNvSpPr txBox="1"/>
          <p:nvPr/>
        </p:nvSpPr>
        <p:spPr>
          <a:xfrm>
            <a:off x="1133856" y="5184647"/>
            <a:ext cx="46602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No unreachable comparisons.</a:t>
            </a:r>
          </a:p>
        </p:txBody>
      </p:sp>
      <p:sp>
        <p:nvSpPr>
          <p:cNvPr id="19" name="Rounded Rectangle 18"/>
          <p:cNvSpPr/>
          <p:nvPr/>
        </p:nvSpPr>
        <p:spPr>
          <a:xfrm>
            <a:off x="6278727" y="1874519"/>
            <a:ext cx="53460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88455" y="220319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5</a:t>
            </a:r>
          </a:p>
        </p:txBody>
      </p:sp>
      <p:sp>
        <p:nvSpPr>
          <p:cNvPr id="21" name="TextBox 20"/>
          <p:cNvSpPr txBox="1"/>
          <p:nvPr/>
        </p:nvSpPr>
        <p:spPr>
          <a:xfrm>
            <a:off x="6845655" y="1892807"/>
            <a:ext cx="46602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Writes are flushed, and the workbook is exported as x l s x.</a:t>
            </a:r>
          </a:p>
        </p:txBody>
      </p:sp>
      <p:sp>
        <p:nvSpPr>
          <p:cNvPr id="22" name="Rounded Rectangle 21"/>
          <p:cNvSpPr/>
          <p:nvPr/>
        </p:nvSpPr>
        <p:spPr>
          <a:xfrm>
            <a:off x="6278727" y="2971799"/>
            <a:ext cx="53460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88455" y="330047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6</a:t>
            </a:r>
          </a:p>
        </p:txBody>
      </p:sp>
      <p:sp>
        <p:nvSpPr>
          <p:cNvPr id="24" name="TextBox 23"/>
          <p:cNvSpPr txBox="1"/>
          <p:nvPr/>
        </p:nvSpPr>
        <p:spPr>
          <a:xfrm>
            <a:off x="6845655" y="2990087"/>
            <a:ext cx="46602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 file is packaged and posted to the Kobo imports endpoint.</a:t>
            </a:r>
          </a:p>
        </p:txBody>
      </p:sp>
      <p:sp>
        <p:nvSpPr>
          <p:cNvPr id="25" name="Rounded Rectangle 24"/>
          <p:cNvSpPr/>
          <p:nvPr/>
        </p:nvSpPr>
        <p:spPr>
          <a:xfrm>
            <a:off x="6278727" y="4069079"/>
            <a:ext cx="53460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388455" y="43977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7</a:t>
            </a:r>
          </a:p>
        </p:txBody>
      </p:sp>
      <p:sp>
        <p:nvSpPr>
          <p:cNvPr id="27" name="TextBox 26"/>
          <p:cNvSpPr txBox="1"/>
          <p:nvPr/>
        </p:nvSpPr>
        <p:spPr>
          <a:xfrm>
            <a:off x="6845655" y="4087367"/>
            <a:ext cx="46602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 destination is the existing EmONC asset, and the import status is polled.</a:t>
            </a:r>
          </a:p>
        </p:txBody>
      </p:sp>
      <p:sp>
        <p:nvSpPr>
          <p:cNvPr id="28" name="Rounded Rectangle 27"/>
          <p:cNvSpPr/>
          <p:nvPr/>
        </p:nvSpPr>
        <p:spPr>
          <a:xfrm>
            <a:off x="6278727" y="5166359"/>
            <a:ext cx="5346039" cy="98755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388455" y="549503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8</a:t>
            </a:r>
          </a:p>
        </p:txBody>
      </p:sp>
      <p:sp>
        <p:nvSpPr>
          <p:cNvPr id="30" name="TextBox 29"/>
          <p:cNvSpPr txBox="1"/>
          <p:nvPr/>
        </p:nvSpPr>
        <p:spPr>
          <a:xfrm>
            <a:off x="6845655" y="5184647"/>
            <a:ext cx="4660239" cy="98755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Import complete. A new form version now sits on the asset.</a:t>
            </a:r>
          </a:p>
        </p:txBody>
      </p:sp>
      <p:sp>
        <p:nvSpPr>
          <p:cNvPr id="31" name="TextBox 30"/>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32" name="TextBox 31"/>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2FA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DEPLOY</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Activate the new version — Jane is selectable</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Part 2 · emonc_ctf</a:t>
            </a:r>
          </a:p>
        </p:txBody>
      </p:sp>
      <p:sp>
        <p:nvSpPr>
          <p:cNvPr id="7" name="Rounded Rectangle 6"/>
          <p:cNvSpPr/>
          <p:nvPr/>
        </p:nvSpPr>
        <p:spPr>
          <a:xfrm>
            <a:off x="566928" y="1874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76656" y="2226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1</a:t>
            </a:r>
          </a:p>
        </p:txBody>
      </p:sp>
      <p:sp>
        <p:nvSpPr>
          <p:cNvPr id="9" name="TextBox 8"/>
          <p:cNvSpPr txBox="1"/>
          <p:nvPr/>
        </p:nvSpPr>
        <p:spPr>
          <a:xfrm>
            <a:off x="1133856" y="1892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Now the deployment request is sent.</a:t>
            </a:r>
          </a:p>
        </p:txBody>
      </p:sp>
      <p:sp>
        <p:nvSpPr>
          <p:cNvPr id="10" name="Rounded Rectangle 9"/>
          <p:cNvSpPr/>
          <p:nvPr/>
        </p:nvSpPr>
        <p:spPr>
          <a:xfrm>
            <a:off x="566928" y="3017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76656" y="3369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2</a:t>
            </a:r>
          </a:p>
        </p:txBody>
      </p:sp>
      <p:sp>
        <p:nvSpPr>
          <p:cNvPr id="12" name="TextBox 11"/>
          <p:cNvSpPr txBox="1"/>
          <p:nvPr/>
        </p:nvSpPr>
        <p:spPr>
          <a:xfrm>
            <a:off x="1133856" y="3035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A new version I.D. comes back.</a:t>
            </a:r>
          </a:p>
        </p:txBody>
      </p:sp>
      <p:sp>
        <p:nvSpPr>
          <p:cNvPr id="13" name="Rounded Rectangle 12"/>
          <p:cNvSpPr/>
          <p:nvPr/>
        </p:nvSpPr>
        <p:spPr>
          <a:xfrm>
            <a:off x="566928" y="4160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76656" y="4512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3</a:t>
            </a:r>
          </a:p>
        </p:txBody>
      </p:sp>
      <p:sp>
        <p:nvSpPr>
          <p:cNvPr id="15" name="TextBox 14"/>
          <p:cNvSpPr txBox="1"/>
          <p:nvPr/>
        </p:nvSpPr>
        <p:spPr>
          <a:xfrm>
            <a:off x="1133856" y="4178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Deployment is active. EmONC Curriculum Tracking is live.</a:t>
            </a:r>
          </a:p>
        </p:txBody>
      </p:sp>
      <p:sp>
        <p:nvSpPr>
          <p:cNvPr id="16" name="Rounded Rectangle 15"/>
          <p:cNvSpPr/>
          <p:nvPr/>
        </p:nvSpPr>
        <p:spPr>
          <a:xfrm>
            <a:off x="6278727" y="1874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88455" y="2226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4</a:t>
            </a:r>
          </a:p>
        </p:txBody>
      </p:sp>
      <p:sp>
        <p:nvSpPr>
          <p:cNvPr id="18" name="TextBox 17"/>
          <p:cNvSpPr txBox="1"/>
          <p:nvPr/>
        </p:nvSpPr>
        <p:spPr>
          <a:xfrm>
            <a:off x="6845655" y="1892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Here is the live form. Mentor and session date are filled.</a:t>
            </a:r>
          </a:p>
        </p:txBody>
      </p:sp>
      <p:sp>
        <p:nvSpPr>
          <p:cNvPr id="19" name="Rounded Rectangle 18"/>
          <p:cNvSpPr/>
          <p:nvPr/>
        </p:nvSpPr>
        <p:spPr>
          <a:xfrm>
            <a:off x="6278727" y="3017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88455" y="3369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5</a:t>
            </a:r>
          </a:p>
        </p:txBody>
      </p:sp>
      <p:sp>
        <p:nvSpPr>
          <p:cNvPr id="21" name="TextBox 20"/>
          <p:cNvSpPr txBox="1"/>
          <p:nvPr/>
        </p:nvSpPr>
        <p:spPr>
          <a:xfrm>
            <a:off x="6845655" y="3035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County Kirinyaga, then Kerugoya County Referral Hospital.</a:t>
            </a:r>
          </a:p>
        </p:txBody>
      </p:sp>
      <p:sp>
        <p:nvSpPr>
          <p:cNvPr id="22" name="Rounded Rectangle 21"/>
          <p:cNvSpPr/>
          <p:nvPr/>
        </p:nvSpPr>
        <p:spPr>
          <a:xfrm>
            <a:off x="6278727" y="4160519"/>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88455" y="4512055"/>
            <a:ext cx="330200" cy="330200"/>
          </a:xfrm>
          <a:prstGeom prst="roundRect">
            <a:avLst/>
          </a:prstGeom>
          <a:solidFill>
            <a:srgbClr val="1B3760"/>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2FA36B"/>
                </a:solidFill>
                <a:latin typeface="Segoe UI"/>
              </a:rPr>
              <a:t>6</a:t>
            </a:r>
          </a:p>
        </p:txBody>
      </p:sp>
      <p:sp>
        <p:nvSpPr>
          <p:cNvPr id="24" name="TextBox 23"/>
          <p:cNvSpPr txBox="1"/>
          <p:nvPr/>
        </p:nvSpPr>
        <p:spPr>
          <a:xfrm>
            <a:off x="6845655" y="4178807"/>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And Jane Wanjiku is selectable. Built, validated, uploaded, and deployed.</a:t>
            </a:r>
          </a:p>
        </p:txBody>
      </p:sp>
      <p:sp>
        <p:nvSpPr>
          <p:cNvPr id="25" name="TextBox 24"/>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26" name="TextBox 25"/>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468880"/>
            <a:ext cx="914400" cy="63500"/>
          </a:xfrm>
          <a:prstGeom prst="rect">
            <a:avLst/>
          </a:prstGeom>
          <a:solidFill>
            <a:srgbClr val="E0A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0"/>
            <a:ext cx="11057839" cy="457200"/>
          </a:xfrm>
          <a:prstGeom prst="rect">
            <a:avLst/>
          </a:prstGeom>
          <a:noFill/>
        </p:spPr>
        <p:txBody>
          <a:bodyPr wrap="square" anchor="t">
            <a:spAutoFit/>
          </a:bodyPr>
          <a:lstStyle/>
          <a:p>
            <a:pPr algn="l">
              <a:lnSpc>
                <a:spcPct val="100000"/>
              </a:lnSpc>
              <a:spcBef>
                <a:spcPts val="0"/>
              </a:spcBef>
              <a:spcAft>
                <a:spcPts val="400"/>
              </a:spcAft>
            </a:pPr>
            <a:r>
              <a:rPr sz="1300" b="1" i="0">
                <a:solidFill>
                  <a:srgbClr val="E0A63A"/>
                </a:solidFill>
                <a:latin typeface="Segoe UI"/>
              </a:rPr>
              <a:t>PART 3</a:t>
            </a:r>
          </a:p>
        </p:txBody>
      </p:sp>
      <p:sp>
        <p:nvSpPr>
          <p:cNvPr id="5" name="TextBox 4"/>
          <p:cNvSpPr txBox="1"/>
          <p:nvPr/>
        </p:nvSpPr>
        <p:spPr>
          <a:xfrm>
            <a:off x="566928" y="2606040"/>
            <a:ext cx="11057839" cy="1097280"/>
          </a:xfrm>
          <a:prstGeom prst="rect">
            <a:avLst/>
          </a:prstGeom>
          <a:noFill/>
        </p:spPr>
        <p:txBody>
          <a:bodyPr wrap="square" anchor="t">
            <a:spAutoFit/>
          </a:bodyPr>
          <a:lstStyle/>
          <a:p>
            <a:pPr algn="l">
              <a:lnSpc>
                <a:spcPct val="100000"/>
              </a:lnSpc>
              <a:spcBef>
                <a:spcPts val="0"/>
              </a:spcBef>
              <a:spcAft>
                <a:spcPts val="400"/>
              </a:spcAft>
            </a:pPr>
            <a:r>
              <a:rPr sz="3800" b="1" i="0">
                <a:solidFill>
                  <a:srgbClr val="FFFFFF"/>
                </a:solidFill>
                <a:latin typeface="Segoe UI"/>
              </a:rPr>
              <a:t>The other four Kobo tools</a:t>
            </a:r>
          </a:p>
        </p:txBody>
      </p:sp>
      <p:sp>
        <p:nvSpPr>
          <p:cNvPr id="6" name="TextBox 5"/>
          <p:cNvSpPr txBox="1"/>
          <p:nvPr/>
        </p:nvSpPr>
        <p:spPr>
          <a:xfrm>
            <a:off x="566928" y="3794760"/>
            <a:ext cx="9601200" cy="1097280"/>
          </a:xfrm>
          <a:prstGeom prst="rect">
            <a:avLst/>
          </a:prstGeom>
          <a:noFill/>
        </p:spPr>
        <p:txBody>
          <a:bodyPr wrap="square" anchor="t">
            <a:spAutoFit/>
          </a:bodyPr>
          <a:lstStyle/>
          <a:p>
            <a:pPr algn="l">
              <a:lnSpc>
                <a:spcPct val="120000"/>
              </a:lnSpc>
              <a:spcBef>
                <a:spcPts val="0"/>
              </a:spcBef>
              <a:spcAft>
                <a:spcPts val="400"/>
              </a:spcAft>
            </a:pPr>
            <a:r>
              <a:rPr sz="1700" b="0" i="0">
                <a:solidFill>
                  <a:srgbClr val="93ABC9"/>
                </a:solidFill>
                <a:latin typeface="Segoe UI"/>
              </a:rPr>
              <a:t>Each tool repeats the same safe pattern, in registry order</a:t>
            </a:r>
          </a:p>
        </p:txBody>
      </p:sp>
      <p:sp>
        <p:nvSpPr>
          <p:cNvPr id="7" name="Rounded Rectangle 6"/>
          <p:cNvSpPr/>
          <p:nvPr/>
        </p:nvSpPr>
        <p:spPr>
          <a:xfrm>
            <a:off x="566928" y="1234440"/>
            <a:ext cx="274320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E0A63A"/>
                </a:solidFill>
                <a:latin typeface="Segoe UI"/>
              </a:rPr>
              <a:t>Part 3 · Other tools</a:t>
            </a:r>
          </a:p>
        </p:txBody>
      </p:sp>
      <p:sp>
        <p:nvSpPr>
          <p:cNvPr id="8" name="TextBox 7"/>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9" name="TextBox 8"/>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57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57A8E8"/>
                </a:solidFill>
                <a:latin typeface="Segoe UI"/>
              </a:rPr>
              <a:t>REGISTRY</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Five registered tools, built in this exact order</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buildRegisteredKoboTools_()</a:t>
            </a:r>
          </a:p>
        </p:txBody>
      </p:sp>
      <p:sp>
        <p:nvSpPr>
          <p:cNvPr id="7" name="Rounded Rectangle 6"/>
          <p:cNvSpPr/>
          <p:nvPr/>
        </p:nvSpPr>
        <p:spPr>
          <a:xfrm>
            <a:off x="566928" y="2194560"/>
            <a:ext cx="2006742" cy="3383280"/>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314267" y="2450592"/>
            <a:ext cx="508000" cy="508000"/>
          </a:xfrm>
          <a:prstGeom prst="roundRect">
            <a:avLst/>
          </a:prstGeom>
          <a:solidFill>
            <a:srgbClr val="1B3760"/>
          </a:solidFill>
          <a:ln w="15875">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57A8E8"/>
                </a:solidFill>
                <a:latin typeface="Segoe UI"/>
              </a:rPr>
              <a:t>1</a:t>
            </a:r>
          </a:p>
        </p:txBody>
      </p:sp>
      <p:sp>
        <p:nvSpPr>
          <p:cNvPr id="9" name="TextBox 8"/>
          <p:cNvSpPr txBox="1"/>
          <p:nvPr/>
        </p:nvSpPr>
        <p:spPr>
          <a:xfrm>
            <a:off x="658368" y="3200400"/>
            <a:ext cx="1823862" cy="1554480"/>
          </a:xfrm>
          <a:prstGeom prst="rect">
            <a:avLst/>
          </a:prstGeom>
          <a:noFill/>
        </p:spPr>
        <p:txBody>
          <a:bodyPr wrap="square" anchor="t">
            <a:spAutoFit/>
          </a:bodyPr>
          <a:lstStyle/>
          <a:p>
            <a:pPr algn="ctr">
              <a:lnSpc>
                <a:spcPct val="105000"/>
              </a:lnSpc>
              <a:spcBef>
                <a:spcPts val="0"/>
              </a:spcBef>
              <a:spcAft>
                <a:spcPts val="400"/>
              </a:spcAft>
            </a:pPr>
            <a:r>
              <a:rPr sz="1300" b="1" i="0">
                <a:solidFill>
                  <a:srgbClr val="FFFFFF"/>
                </a:solidFill>
                <a:latin typeface="Segoe UI"/>
              </a:rPr>
              <a:t>EmONC Curriculum Tracking</a:t>
            </a:r>
          </a:p>
        </p:txBody>
      </p:sp>
      <p:sp>
        <p:nvSpPr>
          <p:cNvPr id="10" name="TextBox 9"/>
          <p:cNvSpPr txBox="1"/>
          <p:nvPr/>
        </p:nvSpPr>
        <p:spPr>
          <a:xfrm>
            <a:off x="640080" y="4526280"/>
            <a:ext cx="1860438" cy="914400"/>
          </a:xfrm>
          <a:prstGeom prst="rect">
            <a:avLst/>
          </a:prstGeom>
          <a:noFill/>
        </p:spPr>
        <p:txBody>
          <a:bodyPr wrap="square" anchor="t">
            <a:spAutoFit/>
          </a:bodyPr>
          <a:lstStyle/>
          <a:p>
            <a:pPr algn="ctr">
              <a:lnSpc>
                <a:spcPct val="100000"/>
              </a:lnSpc>
              <a:spcBef>
                <a:spcPts val="0"/>
              </a:spcBef>
              <a:spcAft>
                <a:spcPts val="300"/>
              </a:spcAft>
            </a:pPr>
            <a:r>
              <a:rPr sz="1050" b="0" i="0">
                <a:solidFill>
                  <a:srgbClr val="57A8E8"/>
                </a:solidFill>
                <a:latin typeface="Segoe UI"/>
              </a:rPr>
              <a:t>emonc_ctf</a:t>
            </a:r>
          </a:p>
          <a:p>
            <a:pPr algn="ctr">
              <a:lnSpc>
                <a:spcPct val="100000"/>
              </a:lnSpc>
              <a:spcBef>
                <a:spcPts val="0"/>
              </a:spcBef>
              <a:spcAft>
                <a:spcPts val="300"/>
              </a:spcAft>
            </a:pPr>
            <a:r>
              <a:rPr sz="850" b="0" i="0">
                <a:solidFill>
                  <a:srgbClr val="9FE3C1"/>
                </a:solidFill>
                <a:latin typeface="Segoe UI"/>
              </a:rPr>
              <a:t>aJaBJKDs7pCRMi8zm3BXze</a:t>
            </a:r>
          </a:p>
        </p:txBody>
      </p:sp>
      <p:sp>
        <p:nvSpPr>
          <p:cNvPr id="11" name="Rounded Rectangle 10"/>
          <p:cNvSpPr/>
          <p:nvPr/>
        </p:nvSpPr>
        <p:spPr>
          <a:xfrm>
            <a:off x="2829702" y="2194560"/>
            <a:ext cx="2006742" cy="3383280"/>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77041" y="2450592"/>
            <a:ext cx="508000" cy="508000"/>
          </a:xfrm>
          <a:prstGeom prst="roundRect">
            <a:avLst/>
          </a:prstGeom>
          <a:solidFill>
            <a:srgbClr val="1B3760"/>
          </a:solidFill>
          <a:ln w="15875">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57A8E8"/>
                </a:solidFill>
                <a:latin typeface="Segoe UI"/>
              </a:rPr>
              <a:t>2</a:t>
            </a:r>
          </a:p>
        </p:txBody>
      </p:sp>
      <p:sp>
        <p:nvSpPr>
          <p:cNvPr id="13" name="TextBox 12"/>
          <p:cNvSpPr txBox="1"/>
          <p:nvPr/>
        </p:nvSpPr>
        <p:spPr>
          <a:xfrm>
            <a:off x="2921142" y="3200400"/>
            <a:ext cx="1823862" cy="1554480"/>
          </a:xfrm>
          <a:prstGeom prst="rect">
            <a:avLst/>
          </a:prstGeom>
          <a:noFill/>
        </p:spPr>
        <p:txBody>
          <a:bodyPr wrap="square" anchor="t">
            <a:spAutoFit/>
          </a:bodyPr>
          <a:lstStyle/>
          <a:p>
            <a:pPr algn="ctr">
              <a:lnSpc>
                <a:spcPct val="105000"/>
              </a:lnSpc>
              <a:spcBef>
                <a:spcPts val="0"/>
              </a:spcBef>
              <a:spcAft>
                <a:spcPts val="400"/>
              </a:spcAft>
            </a:pPr>
            <a:r>
              <a:rPr sz="1300" b="1" i="0">
                <a:solidFill>
                  <a:srgbClr val="FFFFFF"/>
                </a:solidFill>
                <a:latin typeface="Segoe UI"/>
              </a:rPr>
              <a:t>Newborn Curriculum Tracking</a:t>
            </a:r>
          </a:p>
        </p:txBody>
      </p:sp>
      <p:sp>
        <p:nvSpPr>
          <p:cNvPr id="14" name="TextBox 13"/>
          <p:cNvSpPr txBox="1"/>
          <p:nvPr/>
        </p:nvSpPr>
        <p:spPr>
          <a:xfrm>
            <a:off x="2902854" y="4526280"/>
            <a:ext cx="1860438" cy="914400"/>
          </a:xfrm>
          <a:prstGeom prst="rect">
            <a:avLst/>
          </a:prstGeom>
          <a:noFill/>
        </p:spPr>
        <p:txBody>
          <a:bodyPr wrap="square" anchor="t">
            <a:spAutoFit/>
          </a:bodyPr>
          <a:lstStyle/>
          <a:p>
            <a:pPr algn="ctr">
              <a:lnSpc>
                <a:spcPct val="100000"/>
              </a:lnSpc>
              <a:spcBef>
                <a:spcPts val="0"/>
              </a:spcBef>
              <a:spcAft>
                <a:spcPts val="300"/>
              </a:spcAft>
            </a:pPr>
            <a:r>
              <a:rPr sz="1050" b="0" i="0">
                <a:solidFill>
                  <a:srgbClr val="57A8E8"/>
                </a:solidFill>
                <a:latin typeface="Segoe UI"/>
              </a:rPr>
              <a:t>newborn_ctf</a:t>
            </a:r>
          </a:p>
          <a:p>
            <a:pPr algn="ctr">
              <a:lnSpc>
                <a:spcPct val="100000"/>
              </a:lnSpc>
              <a:spcBef>
                <a:spcPts val="0"/>
              </a:spcBef>
              <a:spcAft>
                <a:spcPts val="300"/>
              </a:spcAft>
            </a:pPr>
            <a:r>
              <a:rPr sz="850" b="0" i="0">
                <a:solidFill>
                  <a:srgbClr val="9FE3C1"/>
                </a:solidFill>
                <a:latin typeface="Segoe UI"/>
              </a:rPr>
              <a:t>a488FNw8rSGKWdJqpYfpny</a:t>
            </a:r>
          </a:p>
        </p:txBody>
      </p:sp>
      <p:sp>
        <p:nvSpPr>
          <p:cNvPr id="15" name="Rounded Rectangle 14"/>
          <p:cNvSpPr/>
          <p:nvPr/>
        </p:nvSpPr>
        <p:spPr>
          <a:xfrm>
            <a:off x="5092476" y="2194560"/>
            <a:ext cx="2006742" cy="3383280"/>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839815" y="2450592"/>
            <a:ext cx="508000" cy="508000"/>
          </a:xfrm>
          <a:prstGeom prst="roundRect">
            <a:avLst/>
          </a:prstGeom>
          <a:solidFill>
            <a:srgbClr val="1B3760"/>
          </a:solidFill>
          <a:ln w="15875">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57A8E8"/>
                </a:solidFill>
                <a:latin typeface="Segoe UI"/>
              </a:rPr>
              <a:t>3</a:t>
            </a:r>
          </a:p>
        </p:txBody>
      </p:sp>
      <p:sp>
        <p:nvSpPr>
          <p:cNvPr id="17" name="TextBox 16"/>
          <p:cNvSpPr txBox="1"/>
          <p:nvPr/>
        </p:nvSpPr>
        <p:spPr>
          <a:xfrm>
            <a:off x="5183916" y="3200400"/>
            <a:ext cx="1823862" cy="1554480"/>
          </a:xfrm>
          <a:prstGeom prst="rect">
            <a:avLst/>
          </a:prstGeom>
          <a:noFill/>
        </p:spPr>
        <p:txBody>
          <a:bodyPr wrap="square" anchor="t">
            <a:spAutoFit/>
          </a:bodyPr>
          <a:lstStyle/>
          <a:p>
            <a:pPr algn="ctr">
              <a:lnSpc>
                <a:spcPct val="105000"/>
              </a:lnSpc>
              <a:spcBef>
                <a:spcPts val="0"/>
              </a:spcBef>
              <a:spcAft>
                <a:spcPts val="400"/>
              </a:spcAft>
            </a:pPr>
            <a:r>
              <a:rPr sz="1300" b="1" i="0">
                <a:solidFill>
                  <a:srgbClr val="FFFFFF"/>
                </a:solidFill>
                <a:latin typeface="Segoe UI"/>
              </a:rPr>
              <a:t>MoH Skills Assessment</a:t>
            </a:r>
          </a:p>
        </p:txBody>
      </p:sp>
      <p:sp>
        <p:nvSpPr>
          <p:cNvPr id="18" name="TextBox 17"/>
          <p:cNvSpPr txBox="1"/>
          <p:nvPr/>
        </p:nvSpPr>
        <p:spPr>
          <a:xfrm>
            <a:off x="5165628" y="4526280"/>
            <a:ext cx="1860438" cy="914400"/>
          </a:xfrm>
          <a:prstGeom prst="rect">
            <a:avLst/>
          </a:prstGeom>
          <a:noFill/>
        </p:spPr>
        <p:txBody>
          <a:bodyPr wrap="square" anchor="t">
            <a:spAutoFit/>
          </a:bodyPr>
          <a:lstStyle/>
          <a:p>
            <a:pPr algn="ctr">
              <a:lnSpc>
                <a:spcPct val="100000"/>
              </a:lnSpc>
              <a:spcBef>
                <a:spcPts val="0"/>
              </a:spcBef>
              <a:spcAft>
                <a:spcPts val="300"/>
              </a:spcAft>
            </a:pPr>
            <a:r>
              <a:rPr sz="1050" b="0" i="0">
                <a:solidFill>
                  <a:srgbClr val="57A8E8"/>
                </a:solidFill>
                <a:latin typeface="Segoe UI"/>
              </a:rPr>
              <a:t>moh_sac</a:t>
            </a:r>
          </a:p>
          <a:p>
            <a:pPr algn="ctr">
              <a:lnSpc>
                <a:spcPct val="100000"/>
              </a:lnSpc>
              <a:spcBef>
                <a:spcPts val="0"/>
              </a:spcBef>
              <a:spcAft>
                <a:spcPts val="300"/>
              </a:spcAft>
            </a:pPr>
            <a:r>
              <a:rPr sz="850" b="0" i="0">
                <a:solidFill>
                  <a:srgbClr val="9FE3C1"/>
                </a:solidFill>
                <a:latin typeface="Segoe UI"/>
              </a:rPr>
              <a:t>aR4bTSJFw3Tnev6o77S3Sg</a:t>
            </a:r>
          </a:p>
        </p:txBody>
      </p:sp>
      <p:sp>
        <p:nvSpPr>
          <p:cNvPr id="19" name="Rounded Rectangle 18"/>
          <p:cNvSpPr/>
          <p:nvPr/>
        </p:nvSpPr>
        <p:spPr>
          <a:xfrm>
            <a:off x="7355250" y="2194560"/>
            <a:ext cx="2006742" cy="3383280"/>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02589" y="2450592"/>
            <a:ext cx="508000" cy="508000"/>
          </a:xfrm>
          <a:prstGeom prst="roundRect">
            <a:avLst/>
          </a:prstGeom>
          <a:solidFill>
            <a:srgbClr val="1B3760"/>
          </a:solidFill>
          <a:ln w="15875">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57A8E8"/>
                </a:solidFill>
                <a:latin typeface="Segoe UI"/>
              </a:rPr>
              <a:t>4</a:t>
            </a:r>
          </a:p>
        </p:txBody>
      </p:sp>
      <p:sp>
        <p:nvSpPr>
          <p:cNvPr id="21" name="TextBox 20"/>
          <p:cNvSpPr txBox="1"/>
          <p:nvPr/>
        </p:nvSpPr>
        <p:spPr>
          <a:xfrm>
            <a:off x="7446690" y="3200400"/>
            <a:ext cx="1823862" cy="1554480"/>
          </a:xfrm>
          <a:prstGeom prst="rect">
            <a:avLst/>
          </a:prstGeom>
          <a:noFill/>
        </p:spPr>
        <p:txBody>
          <a:bodyPr wrap="square" anchor="t">
            <a:spAutoFit/>
          </a:bodyPr>
          <a:lstStyle/>
          <a:p>
            <a:pPr algn="ctr">
              <a:lnSpc>
                <a:spcPct val="105000"/>
              </a:lnSpc>
              <a:spcBef>
                <a:spcPts val="0"/>
              </a:spcBef>
              <a:spcAft>
                <a:spcPts val="400"/>
              </a:spcAft>
            </a:pPr>
            <a:r>
              <a:rPr sz="1300" b="1" i="0">
                <a:solidFill>
                  <a:srgbClr val="FFFFFF"/>
                </a:solidFill>
                <a:latin typeface="Segoe UI"/>
              </a:rPr>
              <a:t>Newborn Knowledge Assessment</a:t>
            </a:r>
          </a:p>
        </p:txBody>
      </p:sp>
      <p:sp>
        <p:nvSpPr>
          <p:cNvPr id="22" name="TextBox 21"/>
          <p:cNvSpPr txBox="1"/>
          <p:nvPr/>
        </p:nvSpPr>
        <p:spPr>
          <a:xfrm>
            <a:off x="7428402" y="4526280"/>
            <a:ext cx="1860438" cy="914400"/>
          </a:xfrm>
          <a:prstGeom prst="rect">
            <a:avLst/>
          </a:prstGeom>
          <a:noFill/>
        </p:spPr>
        <p:txBody>
          <a:bodyPr wrap="square" anchor="t">
            <a:spAutoFit/>
          </a:bodyPr>
          <a:lstStyle/>
          <a:p>
            <a:pPr algn="ctr">
              <a:lnSpc>
                <a:spcPct val="100000"/>
              </a:lnSpc>
              <a:spcBef>
                <a:spcPts val="0"/>
              </a:spcBef>
              <a:spcAft>
                <a:spcPts val="300"/>
              </a:spcAft>
            </a:pPr>
            <a:r>
              <a:rPr sz="1050" b="0" i="0">
                <a:solidFill>
                  <a:srgbClr val="57A8E8"/>
                </a:solidFill>
                <a:latin typeface="Segoe UI"/>
              </a:rPr>
              <a:t>newborn_ka</a:t>
            </a:r>
          </a:p>
          <a:p>
            <a:pPr algn="ctr">
              <a:lnSpc>
                <a:spcPct val="100000"/>
              </a:lnSpc>
              <a:spcBef>
                <a:spcPts val="0"/>
              </a:spcBef>
              <a:spcAft>
                <a:spcPts val="300"/>
              </a:spcAft>
            </a:pPr>
            <a:r>
              <a:rPr sz="850" b="0" i="0">
                <a:solidFill>
                  <a:srgbClr val="9FE3C1"/>
                </a:solidFill>
                <a:latin typeface="Segoe UI"/>
              </a:rPr>
              <a:t>aFRcSLKi7wUvdrQ7js5Vbd</a:t>
            </a:r>
          </a:p>
        </p:txBody>
      </p:sp>
      <p:sp>
        <p:nvSpPr>
          <p:cNvPr id="23" name="Rounded Rectangle 22"/>
          <p:cNvSpPr/>
          <p:nvPr/>
        </p:nvSpPr>
        <p:spPr>
          <a:xfrm>
            <a:off x="9618024" y="2194560"/>
            <a:ext cx="2006742" cy="3383280"/>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365363" y="2450592"/>
            <a:ext cx="508000" cy="508000"/>
          </a:xfrm>
          <a:prstGeom prst="roundRect">
            <a:avLst/>
          </a:prstGeom>
          <a:solidFill>
            <a:srgbClr val="1B3760"/>
          </a:solidFill>
          <a:ln w="15875">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57A8E8"/>
                </a:solidFill>
                <a:latin typeface="Segoe UI"/>
              </a:rPr>
              <a:t>5</a:t>
            </a:r>
          </a:p>
        </p:txBody>
      </p:sp>
      <p:sp>
        <p:nvSpPr>
          <p:cNvPr id="25" name="TextBox 24"/>
          <p:cNvSpPr txBox="1"/>
          <p:nvPr/>
        </p:nvSpPr>
        <p:spPr>
          <a:xfrm>
            <a:off x="9709464" y="3200400"/>
            <a:ext cx="1823862" cy="1554480"/>
          </a:xfrm>
          <a:prstGeom prst="rect">
            <a:avLst/>
          </a:prstGeom>
          <a:noFill/>
        </p:spPr>
        <p:txBody>
          <a:bodyPr wrap="square" anchor="t">
            <a:spAutoFit/>
          </a:bodyPr>
          <a:lstStyle/>
          <a:p>
            <a:pPr algn="ctr">
              <a:lnSpc>
                <a:spcPct val="105000"/>
              </a:lnSpc>
              <a:spcBef>
                <a:spcPts val="0"/>
              </a:spcBef>
              <a:spcAft>
                <a:spcPts val="400"/>
              </a:spcAft>
            </a:pPr>
            <a:r>
              <a:rPr sz="1300" b="1" i="0">
                <a:solidFill>
                  <a:srgbClr val="FFFFFF"/>
                </a:solidFill>
                <a:latin typeface="Segoe UI"/>
              </a:rPr>
              <a:t>EmONC Knowledge Assessment</a:t>
            </a:r>
          </a:p>
        </p:txBody>
      </p:sp>
      <p:sp>
        <p:nvSpPr>
          <p:cNvPr id="26" name="TextBox 25"/>
          <p:cNvSpPr txBox="1"/>
          <p:nvPr/>
        </p:nvSpPr>
        <p:spPr>
          <a:xfrm>
            <a:off x="9691176" y="4526280"/>
            <a:ext cx="1860438" cy="914400"/>
          </a:xfrm>
          <a:prstGeom prst="rect">
            <a:avLst/>
          </a:prstGeom>
          <a:noFill/>
        </p:spPr>
        <p:txBody>
          <a:bodyPr wrap="square" anchor="t">
            <a:spAutoFit/>
          </a:bodyPr>
          <a:lstStyle/>
          <a:p>
            <a:pPr algn="ctr">
              <a:lnSpc>
                <a:spcPct val="100000"/>
              </a:lnSpc>
              <a:spcBef>
                <a:spcPts val="0"/>
              </a:spcBef>
              <a:spcAft>
                <a:spcPts val="300"/>
              </a:spcAft>
            </a:pPr>
            <a:r>
              <a:rPr sz="1050" b="0" i="0">
                <a:solidFill>
                  <a:srgbClr val="57A8E8"/>
                </a:solidFill>
                <a:latin typeface="Segoe UI"/>
              </a:rPr>
              <a:t>emonc_ka</a:t>
            </a:r>
          </a:p>
          <a:p>
            <a:pPr algn="ctr">
              <a:lnSpc>
                <a:spcPct val="100000"/>
              </a:lnSpc>
              <a:spcBef>
                <a:spcPts val="0"/>
              </a:spcBef>
              <a:spcAft>
                <a:spcPts val="300"/>
              </a:spcAft>
            </a:pPr>
            <a:r>
              <a:rPr sz="850" b="0" i="0">
                <a:solidFill>
                  <a:srgbClr val="9FE3C1"/>
                </a:solidFill>
                <a:latin typeface="Segoe UI"/>
              </a:rPr>
              <a:t>auZqsTBpQMBnoDbMshmnrH</a:t>
            </a:r>
          </a:p>
        </p:txBody>
      </p:sp>
      <p:sp>
        <p:nvSpPr>
          <p:cNvPr id="27" name="TextBox 26"/>
          <p:cNvSpPr txBox="1"/>
          <p:nvPr/>
        </p:nvSpPr>
        <p:spPr>
          <a:xfrm>
            <a:off x="566928" y="5806440"/>
            <a:ext cx="11057839" cy="457200"/>
          </a:xfrm>
          <a:prstGeom prst="rect">
            <a:avLst/>
          </a:prstGeom>
          <a:noFill/>
        </p:spPr>
        <p:txBody>
          <a:bodyPr wrap="square" anchor="t">
            <a:spAutoFit/>
          </a:bodyPr>
          <a:lstStyle/>
          <a:p>
            <a:pPr algn="ctr">
              <a:lnSpc>
                <a:spcPct val="100000"/>
              </a:lnSpc>
              <a:spcBef>
                <a:spcPts val="0"/>
              </a:spcBef>
              <a:spcAft>
                <a:spcPts val="400"/>
              </a:spcAft>
            </a:pPr>
            <a:r>
              <a:rPr sz="1250" b="0" i="1">
                <a:solidFill>
                  <a:srgbClr val="93ABC9"/>
                </a:solidFill>
                <a:latin typeface="Segoe UI"/>
              </a:rPr>
              <a:t>Each builder writes three tabs — survey, choices, settings — from the same generated sheets, then deploys in place to its existing Kobo asset.</a:t>
            </a:r>
          </a:p>
        </p:txBody>
      </p:sp>
      <p:sp>
        <p:nvSpPr>
          <p:cNvPr id="28" name="TextBox 27"/>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29" name="TextBox 28"/>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2FA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TOOL 2 OF 5</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Newborn Curriculum Tracking Form</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newborn_ctf</a:t>
            </a:r>
          </a:p>
        </p:txBody>
      </p:sp>
      <p:sp>
        <p:nvSpPr>
          <p:cNvPr id="7" name="Rounded Rectangle 6"/>
          <p:cNvSpPr/>
          <p:nvPr/>
        </p:nvSpPr>
        <p:spPr>
          <a:xfrm>
            <a:off x="566928" y="1920240"/>
            <a:ext cx="6400800" cy="4023360"/>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057400"/>
            <a:ext cx="5943600"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CREATION PROCESS</a:t>
            </a:r>
          </a:p>
        </p:txBody>
      </p:sp>
      <p:sp>
        <p:nvSpPr>
          <p:cNvPr id="9" name="TextBox 8"/>
          <p:cNvSpPr txBox="1"/>
          <p:nvPr/>
        </p:nvSpPr>
        <p:spPr>
          <a:xfrm>
            <a:off x="795528" y="2514600"/>
            <a:ext cx="5943600" cy="3291840"/>
          </a:xfrm>
          <a:prstGeom prst="rect">
            <a:avLst/>
          </a:prstGeom>
          <a:noFill/>
        </p:spPr>
        <p:txBody>
          <a:bodyPr wrap="square" anchor="t">
            <a:spAutoFit/>
          </a:bodyPr>
          <a:lstStyle/>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Open the saved Newborn CTF spreadsheet</a:t>
            </a:r>
          </a:p>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Read the generated newborn survey, facility and mentee lists</a:t>
            </a:r>
          </a:p>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Write choices first: counties, facilities, active newborn mentees, modules</a:t>
            </a:r>
          </a:p>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Write survey + settings, dropping questions whose choice list is missing</a:t>
            </a:r>
          </a:p>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Validate, export xlsx, import and deploy the new version</a:t>
            </a:r>
          </a:p>
        </p:txBody>
      </p:sp>
      <p:sp>
        <p:nvSpPr>
          <p:cNvPr id="10" name="Rounded Rectangle 9"/>
          <p:cNvSpPr/>
          <p:nvPr/>
        </p:nvSpPr>
        <p:spPr>
          <a:xfrm>
            <a:off x="7333488" y="1920240"/>
            <a:ext cx="4291279" cy="402336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34656" y="2057400"/>
            <a:ext cx="3888943"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VALIDATE · UPLOAD · DEPLOY</a:t>
            </a:r>
          </a:p>
        </p:txBody>
      </p:sp>
      <p:sp>
        <p:nvSpPr>
          <p:cNvPr id="12" name="TextBox 11"/>
          <p:cNvSpPr txBox="1"/>
          <p:nvPr/>
        </p:nvSpPr>
        <p:spPr>
          <a:xfrm>
            <a:off x="7534656" y="2560320"/>
            <a:ext cx="3888943" cy="2011680"/>
          </a:xfrm>
          <a:prstGeom prst="rect">
            <a:avLst/>
          </a:prstGeom>
          <a:noFill/>
        </p:spPr>
        <p:txBody>
          <a:bodyPr wrap="square" anchor="t">
            <a:spAutoFit/>
          </a:bodyPr>
          <a:lstStyle/>
          <a:p>
            <a:pPr algn="l">
              <a:lnSpc>
                <a:spcPct val="105000"/>
              </a:lnSpc>
              <a:spcBef>
                <a:spcPts val="0"/>
              </a:spcBef>
              <a:spcAft>
                <a:spcPts val="600"/>
              </a:spcAft>
            </a:pPr>
            <a:r>
              <a:rPr sz="1100" b="0" i="0">
                <a:solidFill>
                  <a:srgbClr val="93ABC9"/>
                </a:solidFill>
                <a:latin typeface="Segoe UI"/>
              </a:rPr>
              <a:t>Builder</a:t>
            </a:r>
          </a:p>
          <a:p>
            <a:pPr algn="l">
              <a:lnSpc>
                <a:spcPct val="105000"/>
              </a:lnSpc>
              <a:spcBef>
                <a:spcPts val="0"/>
              </a:spcBef>
              <a:spcAft>
                <a:spcPts val="600"/>
              </a:spcAft>
            </a:pPr>
            <a:r>
              <a:rPr sz="1250" b="0" i="0">
                <a:solidFill>
                  <a:srgbClr val="57A8E8"/>
                </a:solidFill>
                <a:latin typeface="Segoe UI"/>
              </a:rPr>
              <a:t>createNewbornCurriculumTrackingForm()</a:t>
            </a:r>
          </a:p>
          <a:p>
            <a:pPr algn="l">
              <a:lnSpc>
                <a:spcPct val="105000"/>
              </a:lnSpc>
              <a:spcBef>
                <a:spcPts val="0"/>
              </a:spcBef>
              <a:spcAft>
                <a:spcPts val="600"/>
              </a:spcAft>
            </a:pPr>
            <a:r>
              <a:rPr sz="1100" b="0" i="0">
                <a:solidFill>
                  <a:srgbClr val="93ABC9"/>
                </a:solidFill>
                <a:latin typeface="Segoe UI"/>
              </a:rPr>
              <a:t>Kobo asset UID</a:t>
            </a:r>
          </a:p>
          <a:p>
            <a:pPr algn="l">
              <a:lnSpc>
                <a:spcPct val="105000"/>
              </a:lnSpc>
              <a:spcBef>
                <a:spcPts val="0"/>
              </a:spcBef>
              <a:spcAft>
                <a:spcPts val="600"/>
              </a:spcAft>
            </a:pPr>
            <a:r>
              <a:rPr sz="1250" b="0" i="0">
                <a:solidFill>
                  <a:srgbClr val="9FE3C1"/>
                </a:solidFill>
                <a:latin typeface="Segoe UI"/>
              </a:rPr>
              <a:t>a488FNw8rSGKWdJqpYfpny</a:t>
            </a:r>
          </a:p>
          <a:p>
            <a:pPr algn="l">
              <a:lnSpc>
                <a:spcPct val="105000"/>
              </a:lnSpc>
              <a:spcBef>
                <a:spcPts val="0"/>
              </a:spcBef>
              <a:spcAft>
                <a:spcPts val="600"/>
              </a:spcAft>
            </a:pPr>
            <a:r>
              <a:rPr sz="1100" b="0" i="0">
                <a:solidFill>
                  <a:srgbClr val="93ABC9"/>
                </a:solidFill>
                <a:latin typeface="Segoe UI"/>
              </a:rPr>
              <a:t>Server</a:t>
            </a:r>
          </a:p>
          <a:p>
            <a:pPr algn="l">
              <a:lnSpc>
                <a:spcPct val="105000"/>
              </a:lnSpc>
              <a:spcBef>
                <a:spcPts val="0"/>
              </a:spcBef>
              <a:spcAft>
                <a:spcPts val="600"/>
              </a:spcAft>
            </a:pPr>
            <a:r>
              <a:rPr sz="1250" b="0" i="0">
                <a:solidFill>
                  <a:srgbClr val="EAF1FA"/>
                </a:solidFill>
                <a:latin typeface="Segoe UI"/>
              </a:rPr>
              <a:t>eu.kobotoolbox.org</a:t>
            </a:r>
          </a:p>
        </p:txBody>
      </p:sp>
      <p:sp>
        <p:nvSpPr>
          <p:cNvPr id="13" name="Rounded Rectangle 12"/>
          <p:cNvSpPr/>
          <p:nvPr/>
        </p:nvSpPr>
        <p:spPr>
          <a:xfrm>
            <a:off x="7534656" y="5212080"/>
            <a:ext cx="1737360" cy="304800"/>
          </a:xfrm>
          <a:prstGeom prst="roundRect">
            <a:avLst/>
          </a:prstGeom>
          <a:solidFill>
            <a:srgbClr val="1D4F2E"/>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9FE3C1"/>
                </a:solidFill>
                <a:latin typeface="Segoe UI"/>
              </a:rPr>
              <a:t>LIVE ✓</a:t>
            </a:r>
          </a:p>
        </p:txBody>
      </p:sp>
      <p:sp>
        <p:nvSpPr>
          <p:cNvPr id="14" name="TextBox 13"/>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15" name="TextBox 14"/>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2FA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TOOL 3 OF 5</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MoH Skills Assessment Checklist</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moh_sac</a:t>
            </a:r>
          </a:p>
        </p:txBody>
      </p:sp>
      <p:sp>
        <p:nvSpPr>
          <p:cNvPr id="7" name="Rounded Rectangle 6"/>
          <p:cNvSpPr/>
          <p:nvPr/>
        </p:nvSpPr>
        <p:spPr>
          <a:xfrm>
            <a:off x="566928" y="1920240"/>
            <a:ext cx="6400800" cy="4023360"/>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057400"/>
            <a:ext cx="5943600"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CREATION PROCESS</a:t>
            </a:r>
          </a:p>
        </p:txBody>
      </p:sp>
      <p:sp>
        <p:nvSpPr>
          <p:cNvPr id="9" name="TextBox 8"/>
          <p:cNvSpPr txBox="1"/>
          <p:nvPr/>
        </p:nvSpPr>
        <p:spPr>
          <a:xfrm>
            <a:off x="795528" y="2514600"/>
            <a:ext cx="5943600" cy="3291840"/>
          </a:xfrm>
          <a:prstGeom prst="rect">
            <a:avLst/>
          </a:prstGeom>
          <a:noFill/>
        </p:spPr>
        <p:txBody>
          <a:bodyPr wrap="square" anchor="t">
            <a:spAutoFit/>
          </a:bodyPr>
          <a:lstStyle/>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Combine three programmes: IFM, Newborn and MENTORS survey rows</a:t>
            </a:r>
          </a:p>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Derive counties and facilities from All Facilities List (Choices)</a:t>
            </a:r>
          </a:p>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Kirinyaga and Kwale can never go missing — geography is data-derived</a:t>
            </a:r>
          </a:p>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Programme answer routes to the right facility, mentee and skills sections</a:t>
            </a:r>
          </a:p>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Validate, export, upload and deploy in place</a:t>
            </a:r>
          </a:p>
        </p:txBody>
      </p:sp>
      <p:sp>
        <p:nvSpPr>
          <p:cNvPr id="10" name="Rounded Rectangle 9"/>
          <p:cNvSpPr/>
          <p:nvPr/>
        </p:nvSpPr>
        <p:spPr>
          <a:xfrm>
            <a:off x="7333488" y="1920240"/>
            <a:ext cx="4291279" cy="402336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34656" y="2057400"/>
            <a:ext cx="3888943"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VALIDATE · UPLOAD · DEPLOY</a:t>
            </a:r>
          </a:p>
        </p:txBody>
      </p:sp>
      <p:sp>
        <p:nvSpPr>
          <p:cNvPr id="12" name="TextBox 11"/>
          <p:cNvSpPr txBox="1"/>
          <p:nvPr/>
        </p:nvSpPr>
        <p:spPr>
          <a:xfrm>
            <a:off x="7534656" y="2560320"/>
            <a:ext cx="3888943" cy="2011680"/>
          </a:xfrm>
          <a:prstGeom prst="rect">
            <a:avLst/>
          </a:prstGeom>
          <a:noFill/>
        </p:spPr>
        <p:txBody>
          <a:bodyPr wrap="square" anchor="t">
            <a:spAutoFit/>
          </a:bodyPr>
          <a:lstStyle/>
          <a:p>
            <a:pPr algn="l">
              <a:lnSpc>
                <a:spcPct val="105000"/>
              </a:lnSpc>
              <a:spcBef>
                <a:spcPts val="0"/>
              </a:spcBef>
              <a:spcAft>
                <a:spcPts val="600"/>
              </a:spcAft>
            </a:pPr>
            <a:r>
              <a:rPr sz="1100" b="0" i="0">
                <a:solidFill>
                  <a:srgbClr val="93ABC9"/>
                </a:solidFill>
                <a:latin typeface="Segoe UI"/>
              </a:rPr>
              <a:t>Builder</a:t>
            </a:r>
          </a:p>
          <a:p>
            <a:pPr algn="l">
              <a:lnSpc>
                <a:spcPct val="105000"/>
              </a:lnSpc>
              <a:spcBef>
                <a:spcPts val="0"/>
              </a:spcBef>
              <a:spcAft>
                <a:spcPts val="600"/>
              </a:spcAft>
            </a:pPr>
            <a:r>
              <a:rPr sz="1250" b="0" i="0">
                <a:solidFill>
                  <a:srgbClr val="57A8E8"/>
                </a:solidFill>
                <a:latin typeface="Segoe UI"/>
              </a:rPr>
              <a:t>createMoHSkillsAssessmentChecklist()</a:t>
            </a:r>
          </a:p>
          <a:p>
            <a:pPr algn="l">
              <a:lnSpc>
                <a:spcPct val="105000"/>
              </a:lnSpc>
              <a:spcBef>
                <a:spcPts val="0"/>
              </a:spcBef>
              <a:spcAft>
                <a:spcPts val="600"/>
              </a:spcAft>
            </a:pPr>
            <a:r>
              <a:rPr sz="1100" b="0" i="0">
                <a:solidFill>
                  <a:srgbClr val="93ABC9"/>
                </a:solidFill>
                <a:latin typeface="Segoe UI"/>
              </a:rPr>
              <a:t>Kobo asset UID</a:t>
            </a:r>
          </a:p>
          <a:p>
            <a:pPr algn="l">
              <a:lnSpc>
                <a:spcPct val="105000"/>
              </a:lnSpc>
              <a:spcBef>
                <a:spcPts val="0"/>
              </a:spcBef>
              <a:spcAft>
                <a:spcPts val="600"/>
              </a:spcAft>
            </a:pPr>
            <a:r>
              <a:rPr sz="1250" b="0" i="0">
                <a:solidFill>
                  <a:srgbClr val="9FE3C1"/>
                </a:solidFill>
                <a:latin typeface="Segoe UI"/>
              </a:rPr>
              <a:t>aR4bTSJFw3Tnev6o77S3Sg</a:t>
            </a:r>
          </a:p>
          <a:p>
            <a:pPr algn="l">
              <a:lnSpc>
                <a:spcPct val="105000"/>
              </a:lnSpc>
              <a:spcBef>
                <a:spcPts val="0"/>
              </a:spcBef>
              <a:spcAft>
                <a:spcPts val="600"/>
              </a:spcAft>
            </a:pPr>
            <a:r>
              <a:rPr sz="1100" b="0" i="0">
                <a:solidFill>
                  <a:srgbClr val="93ABC9"/>
                </a:solidFill>
                <a:latin typeface="Segoe UI"/>
              </a:rPr>
              <a:t>Server</a:t>
            </a:r>
          </a:p>
          <a:p>
            <a:pPr algn="l">
              <a:lnSpc>
                <a:spcPct val="105000"/>
              </a:lnSpc>
              <a:spcBef>
                <a:spcPts val="0"/>
              </a:spcBef>
              <a:spcAft>
                <a:spcPts val="600"/>
              </a:spcAft>
            </a:pPr>
            <a:r>
              <a:rPr sz="1250" b="0" i="0">
                <a:solidFill>
                  <a:srgbClr val="EAF1FA"/>
                </a:solidFill>
                <a:latin typeface="Segoe UI"/>
              </a:rPr>
              <a:t>eu.kobotoolbox.org</a:t>
            </a:r>
          </a:p>
        </p:txBody>
      </p:sp>
      <p:sp>
        <p:nvSpPr>
          <p:cNvPr id="13" name="Rounded Rectangle 12"/>
          <p:cNvSpPr/>
          <p:nvPr/>
        </p:nvSpPr>
        <p:spPr>
          <a:xfrm>
            <a:off x="7534656" y="5212080"/>
            <a:ext cx="1737360" cy="304800"/>
          </a:xfrm>
          <a:prstGeom prst="roundRect">
            <a:avLst/>
          </a:prstGeom>
          <a:solidFill>
            <a:srgbClr val="1D4F2E"/>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9FE3C1"/>
                </a:solidFill>
                <a:latin typeface="Segoe UI"/>
              </a:rPr>
              <a:t>LIVE ✓</a:t>
            </a:r>
          </a:p>
        </p:txBody>
      </p:sp>
      <p:sp>
        <p:nvSpPr>
          <p:cNvPr id="14" name="TextBox 13"/>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15" name="TextBox 14"/>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2FA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TOOL 4 OF 5</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Newborn Knowledge Assessment</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newborn_ka</a:t>
            </a:r>
          </a:p>
        </p:txBody>
      </p:sp>
      <p:sp>
        <p:nvSpPr>
          <p:cNvPr id="7" name="Rounded Rectangle 6"/>
          <p:cNvSpPr/>
          <p:nvPr/>
        </p:nvSpPr>
        <p:spPr>
          <a:xfrm>
            <a:off x="566928" y="1920240"/>
            <a:ext cx="6400800" cy="4023360"/>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057400"/>
            <a:ext cx="5943600"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CREATION PROCESS</a:t>
            </a:r>
          </a:p>
        </p:txBody>
      </p:sp>
      <p:sp>
        <p:nvSpPr>
          <p:cNvPr id="9" name="TextBox 8"/>
          <p:cNvSpPr txBox="1"/>
          <p:nvPr/>
        </p:nvSpPr>
        <p:spPr>
          <a:xfrm>
            <a:off x="795528" y="2514600"/>
            <a:ext cx="5943600" cy="3291840"/>
          </a:xfrm>
          <a:prstGeom prst="rect">
            <a:avLst/>
          </a:prstGeom>
          <a:noFill/>
        </p:spPr>
        <p:txBody>
          <a:bodyPr wrap="square" anchor="t">
            <a:spAutoFit/>
          </a:bodyPr>
          <a:lstStyle/>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Questions from the Newborn Question Bank, or the built-in set</a:t>
            </a:r>
          </a:p>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Facilities from the generated Newborn Facilities List (Choices)</a:t>
            </a:r>
          </a:p>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Write questions, answers, constraints and score calculations</a:t>
            </a:r>
          </a:p>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Validate answer choices and calculations</a:t>
            </a:r>
          </a:p>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Export, upload and deploy the scoring form</a:t>
            </a:r>
          </a:p>
        </p:txBody>
      </p:sp>
      <p:sp>
        <p:nvSpPr>
          <p:cNvPr id="10" name="Rounded Rectangle 9"/>
          <p:cNvSpPr/>
          <p:nvPr/>
        </p:nvSpPr>
        <p:spPr>
          <a:xfrm>
            <a:off x="7333488" y="1920240"/>
            <a:ext cx="4291279" cy="402336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34656" y="2057400"/>
            <a:ext cx="3888943"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VALIDATE · UPLOAD · DEPLOY</a:t>
            </a:r>
          </a:p>
        </p:txBody>
      </p:sp>
      <p:sp>
        <p:nvSpPr>
          <p:cNvPr id="12" name="TextBox 11"/>
          <p:cNvSpPr txBox="1"/>
          <p:nvPr/>
        </p:nvSpPr>
        <p:spPr>
          <a:xfrm>
            <a:off x="7534656" y="2560320"/>
            <a:ext cx="3888943" cy="2011680"/>
          </a:xfrm>
          <a:prstGeom prst="rect">
            <a:avLst/>
          </a:prstGeom>
          <a:noFill/>
        </p:spPr>
        <p:txBody>
          <a:bodyPr wrap="square" anchor="t">
            <a:spAutoFit/>
          </a:bodyPr>
          <a:lstStyle/>
          <a:p>
            <a:pPr algn="l">
              <a:lnSpc>
                <a:spcPct val="105000"/>
              </a:lnSpc>
              <a:spcBef>
                <a:spcPts val="0"/>
              </a:spcBef>
              <a:spcAft>
                <a:spcPts val="600"/>
              </a:spcAft>
            </a:pPr>
            <a:r>
              <a:rPr sz="1100" b="0" i="0">
                <a:solidFill>
                  <a:srgbClr val="93ABC9"/>
                </a:solidFill>
                <a:latin typeface="Segoe UI"/>
              </a:rPr>
              <a:t>Builder</a:t>
            </a:r>
          </a:p>
          <a:p>
            <a:pPr algn="l">
              <a:lnSpc>
                <a:spcPct val="105000"/>
              </a:lnSpc>
              <a:spcBef>
                <a:spcPts val="0"/>
              </a:spcBef>
              <a:spcAft>
                <a:spcPts val="600"/>
              </a:spcAft>
            </a:pPr>
            <a:r>
              <a:rPr sz="1250" b="0" i="0">
                <a:solidFill>
                  <a:srgbClr val="57A8E8"/>
                </a:solidFill>
                <a:latin typeface="Segoe UI"/>
              </a:rPr>
              <a:t>createNewbornKnowledgeAssessment()</a:t>
            </a:r>
          </a:p>
          <a:p>
            <a:pPr algn="l">
              <a:lnSpc>
                <a:spcPct val="105000"/>
              </a:lnSpc>
              <a:spcBef>
                <a:spcPts val="0"/>
              </a:spcBef>
              <a:spcAft>
                <a:spcPts val="600"/>
              </a:spcAft>
            </a:pPr>
            <a:r>
              <a:rPr sz="1100" b="0" i="0">
                <a:solidFill>
                  <a:srgbClr val="93ABC9"/>
                </a:solidFill>
                <a:latin typeface="Segoe UI"/>
              </a:rPr>
              <a:t>Kobo asset UID</a:t>
            </a:r>
          </a:p>
          <a:p>
            <a:pPr algn="l">
              <a:lnSpc>
                <a:spcPct val="105000"/>
              </a:lnSpc>
              <a:spcBef>
                <a:spcPts val="0"/>
              </a:spcBef>
              <a:spcAft>
                <a:spcPts val="600"/>
              </a:spcAft>
            </a:pPr>
            <a:r>
              <a:rPr sz="1250" b="0" i="0">
                <a:solidFill>
                  <a:srgbClr val="9FE3C1"/>
                </a:solidFill>
                <a:latin typeface="Segoe UI"/>
              </a:rPr>
              <a:t>aFRcSLKi7wUvdrQ7js5Vbd</a:t>
            </a:r>
          </a:p>
          <a:p>
            <a:pPr algn="l">
              <a:lnSpc>
                <a:spcPct val="105000"/>
              </a:lnSpc>
              <a:spcBef>
                <a:spcPts val="0"/>
              </a:spcBef>
              <a:spcAft>
                <a:spcPts val="600"/>
              </a:spcAft>
            </a:pPr>
            <a:r>
              <a:rPr sz="1100" b="0" i="0">
                <a:solidFill>
                  <a:srgbClr val="93ABC9"/>
                </a:solidFill>
                <a:latin typeface="Segoe UI"/>
              </a:rPr>
              <a:t>Server</a:t>
            </a:r>
          </a:p>
          <a:p>
            <a:pPr algn="l">
              <a:lnSpc>
                <a:spcPct val="105000"/>
              </a:lnSpc>
              <a:spcBef>
                <a:spcPts val="0"/>
              </a:spcBef>
              <a:spcAft>
                <a:spcPts val="600"/>
              </a:spcAft>
            </a:pPr>
            <a:r>
              <a:rPr sz="1250" b="0" i="0">
                <a:solidFill>
                  <a:srgbClr val="EAF1FA"/>
                </a:solidFill>
                <a:latin typeface="Segoe UI"/>
              </a:rPr>
              <a:t>eu.kobotoolbox.org</a:t>
            </a:r>
          </a:p>
        </p:txBody>
      </p:sp>
      <p:sp>
        <p:nvSpPr>
          <p:cNvPr id="13" name="Rounded Rectangle 12"/>
          <p:cNvSpPr/>
          <p:nvPr/>
        </p:nvSpPr>
        <p:spPr>
          <a:xfrm>
            <a:off x="7534656" y="5212080"/>
            <a:ext cx="1737360" cy="304800"/>
          </a:xfrm>
          <a:prstGeom prst="roundRect">
            <a:avLst/>
          </a:prstGeom>
          <a:solidFill>
            <a:srgbClr val="1D4F2E"/>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9FE3C1"/>
                </a:solidFill>
                <a:latin typeface="Segoe UI"/>
              </a:rPr>
              <a:t>LIVE ✓</a:t>
            </a:r>
          </a:p>
        </p:txBody>
      </p:sp>
      <p:sp>
        <p:nvSpPr>
          <p:cNvPr id="14" name="TextBox 13"/>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15" name="TextBox 14"/>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2FA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TOOL 5 OF 5</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MoH Mentee EmONC Knowledge Assessment</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emonc_ka</a:t>
            </a:r>
          </a:p>
        </p:txBody>
      </p:sp>
      <p:sp>
        <p:nvSpPr>
          <p:cNvPr id="7" name="Rounded Rectangle 6"/>
          <p:cNvSpPr/>
          <p:nvPr/>
        </p:nvSpPr>
        <p:spPr>
          <a:xfrm>
            <a:off x="566928" y="1920240"/>
            <a:ext cx="6400800" cy="4023360"/>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057400"/>
            <a:ext cx="5943600"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CREATION PROCESS</a:t>
            </a:r>
          </a:p>
        </p:txBody>
      </p:sp>
      <p:sp>
        <p:nvSpPr>
          <p:cNvPr id="9" name="TextBox 8"/>
          <p:cNvSpPr txBox="1"/>
          <p:nvPr/>
        </p:nvSpPr>
        <p:spPr>
          <a:xfrm>
            <a:off x="795528" y="2514600"/>
            <a:ext cx="5943600" cy="3291840"/>
          </a:xfrm>
          <a:prstGeom prst="rect">
            <a:avLst/>
          </a:prstGeom>
          <a:noFill/>
        </p:spPr>
        <p:txBody>
          <a:bodyPr wrap="square" anchor="t">
            <a:spAutoFit/>
          </a:bodyPr>
          <a:lstStyle/>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Questions from the EmONC Question Bank, or the built-in set</a:t>
            </a:r>
          </a:p>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Build the 16-county facility cascade from EmONC Facilities List</a:t>
            </a:r>
          </a:p>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Write assessment questions, relevance and scoring</a:t>
            </a:r>
          </a:p>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Validate county facility lists and assessment choices</a:t>
            </a:r>
          </a:p>
          <a:p>
            <a:pPr algn="l">
              <a:lnSpc>
                <a:spcPct val="112000"/>
              </a:lnSpc>
              <a:spcBef>
                <a:spcPts val="0"/>
              </a:spcBef>
              <a:spcAft>
                <a:spcPts val="900"/>
              </a:spcAft>
            </a:pPr>
            <a:r>
              <a:rPr sz="1400" b="1" i="0">
                <a:solidFill>
                  <a:srgbClr val="2FA36B"/>
                </a:solidFill>
                <a:latin typeface="Segoe UI"/>
              </a:rPr>
              <a:t>•  </a:t>
            </a:r>
            <a:r>
              <a:rPr sz="1350" b="0" i="0">
                <a:solidFill>
                  <a:srgbClr val="EAF1FA"/>
                </a:solidFill>
                <a:latin typeface="Segoe UI"/>
              </a:rPr>
              <a:t>Export, upload and deploy — all five tools now live</a:t>
            </a:r>
          </a:p>
        </p:txBody>
      </p:sp>
      <p:sp>
        <p:nvSpPr>
          <p:cNvPr id="10" name="Rounded Rectangle 9"/>
          <p:cNvSpPr/>
          <p:nvPr/>
        </p:nvSpPr>
        <p:spPr>
          <a:xfrm>
            <a:off x="7333488" y="1920240"/>
            <a:ext cx="4291279" cy="402336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34656" y="2057400"/>
            <a:ext cx="3888943"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2FA36B"/>
                </a:solidFill>
                <a:latin typeface="Segoe UI"/>
              </a:rPr>
              <a:t>VALIDATE · UPLOAD · DEPLOY</a:t>
            </a:r>
          </a:p>
        </p:txBody>
      </p:sp>
      <p:sp>
        <p:nvSpPr>
          <p:cNvPr id="12" name="TextBox 11"/>
          <p:cNvSpPr txBox="1"/>
          <p:nvPr/>
        </p:nvSpPr>
        <p:spPr>
          <a:xfrm>
            <a:off x="7534656" y="2560320"/>
            <a:ext cx="3888943" cy="2011680"/>
          </a:xfrm>
          <a:prstGeom prst="rect">
            <a:avLst/>
          </a:prstGeom>
          <a:noFill/>
        </p:spPr>
        <p:txBody>
          <a:bodyPr wrap="square" anchor="t">
            <a:spAutoFit/>
          </a:bodyPr>
          <a:lstStyle/>
          <a:p>
            <a:pPr algn="l">
              <a:lnSpc>
                <a:spcPct val="105000"/>
              </a:lnSpc>
              <a:spcBef>
                <a:spcPts val="0"/>
              </a:spcBef>
              <a:spcAft>
                <a:spcPts val="600"/>
              </a:spcAft>
            </a:pPr>
            <a:r>
              <a:rPr sz="1100" b="0" i="0">
                <a:solidFill>
                  <a:srgbClr val="93ABC9"/>
                </a:solidFill>
                <a:latin typeface="Segoe UI"/>
              </a:rPr>
              <a:t>Builder</a:t>
            </a:r>
          </a:p>
          <a:p>
            <a:pPr algn="l">
              <a:lnSpc>
                <a:spcPct val="105000"/>
              </a:lnSpc>
              <a:spcBef>
                <a:spcPts val="0"/>
              </a:spcBef>
              <a:spcAft>
                <a:spcPts val="600"/>
              </a:spcAft>
            </a:pPr>
            <a:r>
              <a:rPr sz="1250" b="0" i="0">
                <a:solidFill>
                  <a:srgbClr val="57A8E8"/>
                </a:solidFill>
                <a:latin typeface="Segoe UI"/>
              </a:rPr>
              <a:t>createEmONCKnowledgeAssessment()</a:t>
            </a:r>
          </a:p>
          <a:p>
            <a:pPr algn="l">
              <a:lnSpc>
                <a:spcPct val="105000"/>
              </a:lnSpc>
              <a:spcBef>
                <a:spcPts val="0"/>
              </a:spcBef>
              <a:spcAft>
                <a:spcPts val="600"/>
              </a:spcAft>
            </a:pPr>
            <a:r>
              <a:rPr sz="1100" b="0" i="0">
                <a:solidFill>
                  <a:srgbClr val="93ABC9"/>
                </a:solidFill>
                <a:latin typeface="Segoe UI"/>
              </a:rPr>
              <a:t>Kobo asset UID</a:t>
            </a:r>
          </a:p>
          <a:p>
            <a:pPr algn="l">
              <a:lnSpc>
                <a:spcPct val="105000"/>
              </a:lnSpc>
              <a:spcBef>
                <a:spcPts val="0"/>
              </a:spcBef>
              <a:spcAft>
                <a:spcPts val="600"/>
              </a:spcAft>
            </a:pPr>
            <a:r>
              <a:rPr sz="1250" b="0" i="0">
                <a:solidFill>
                  <a:srgbClr val="9FE3C1"/>
                </a:solidFill>
                <a:latin typeface="Segoe UI"/>
              </a:rPr>
              <a:t>auZqsTBpQMBnoDbMshmnrH</a:t>
            </a:r>
          </a:p>
          <a:p>
            <a:pPr algn="l">
              <a:lnSpc>
                <a:spcPct val="105000"/>
              </a:lnSpc>
              <a:spcBef>
                <a:spcPts val="0"/>
              </a:spcBef>
              <a:spcAft>
                <a:spcPts val="600"/>
              </a:spcAft>
            </a:pPr>
            <a:r>
              <a:rPr sz="1100" b="0" i="0">
                <a:solidFill>
                  <a:srgbClr val="93ABC9"/>
                </a:solidFill>
                <a:latin typeface="Segoe UI"/>
              </a:rPr>
              <a:t>Server</a:t>
            </a:r>
          </a:p>
          <a:p>
            <a:pPr algn="l">
              <a:lnSpc>
                <a:spcPct val="105000"/>
              </a:lnSpc>
              <a:spcBef>
                <a:spcPts val="0"/>
              </a:spcBef>
              <a:spcAft>
                <a:spcPts val="600"/>
              </a:spcAft>
            </a:pPr>
            <a:r>
              <a:rPr sz="1250" b="0" i="0">
                <a:solidFill>
                  <a:srgbClr val="EAF1FA"/>
                </a:solidFill>
                <a:latin typeface="Segoe UI"/>
              </a:rPr>
              <a:t>eu.kobotoolbox.org</a:t>
            </a:r>
          </a:p>
        </p:txBody>
      </p:sp>
      <p:sp>
        <p:nvSpPr>
          <p:cNvPr id="13" name="Rounded Rectangle 12"/>
          <p:cNvSpPr/>
          <p:nvPr/>
        </p:nvSpPr>
        <p:spPr>
          <a:xfrm>
            <a:off x="7534656" y="5212080"/>
            <a:ext cx="1737360" cy="304800"/>
          </a:xfrm>
          <a:prstGeom prst="roundRect">
            <a:avLst/>
          </a:prstGeom>
          <a:solidFill>
            <a:srgbClr val="1D4F2E"/>
          </a:solidFill>
          <a:ln w="12700">
            <a:solidFill>
              <a:srgbClr val="2FA36B"/>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9FE3C1"/>
                </a:solidFill>
                <a:latin typeface="Segoe UI"/>
              </a:rPr>
              <a:t>LIVE ✓</a:t>
            </a:r>
          </a:p>
        </p:txBody>
      </p:sp>
      <p:sp>
        <p:nvSpPr>
          <p:cNvPr id="14" name="TextBox 13"/>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15" name="TextBox 14"/>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468880"/>
            <a:ext cx="914400" cy="63500"/>
          </a:xfrm>
          <a:prstGeom prst="rect">
            <a:avLst/>
          </a:prstGeom>
          <a:solidFill>
            <a:srgbClr val="57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828800"/>
            <a:ext cx="11057839" cy="457200"/>
          </a:xfrm>
          <a:prstGeom prst="rect">
            <a:avLst/>
          </a:prstGeom>
          <a:noFill/>
        </p:spPr>
        <p:txBody>
          <a:bodyPr wrap="square" anchor="t">
            <a:spAutoFit/>
          </a:bodyPr>
          <a:lstStyle/>
          <a:p>
            <a:pPr algn="l">
              <a:lnSpc>
                <a:spcPct val="100000"/>
              </a:lnSpc>
              <a:spcBef>
                <a:spcPts val="0"/>
              </a:spcBef>
              <a:spcAft>
                <a:spcPts val="400"/>
              </a:spcAft>
            </a:pPr>
            <a:r>
              <a:rPr sz="1300" b="1" i="0">
                <a:solidFill>
                  <a:srgbClr val="57A8E8"/>
                </a:solidFill>
                <a:latin typeface="Segoe UI"/>
              </a:rPr>
              <a:t>PART 4</a:t>
            </a:r>
          </a:p>
        </p:txBody>
      </p:sp>
      <p:sp>
        <p:nvSpPr>
          <p:cNvPr id="5" name="TextBox 4"/>
          <p:cNvSpPr txBox="1"/>
          <p:nvPr/>
        </p:nvSpPr>
        <p:spPr>
          <a:xfrm>
            <a:off x="566928" y="2606040"/>
            <a:ext cx="11057839" cy="1097280"/>
          </a:xfrm>
          <a:prstGeom prst="rect">
            <a:avLst/>
          </a:prstGeom>
          <a:noFill/>
        </p:spPr>
        <p:txBody>
          <a:bodyPr wrap="square" anchor="t">
            <a:spAutoFit/>
          </a:bodyPr>
          <a:lstStyle/>
          <a:p>
            <a:pPr algn="l">
              <a:lnSpc>
                <a:spcPct val="100000"/>
              </a:lnSpc>
              <a:spcBef>
                <a:spcPts val="0"/>
              </a:spcBef>
              <a:spcAft>
                <a:spcPts val="400"/>
              </a:spcAft>
            </a:pPr>
            <a:r>
              <a:rPr sz="3800" b="1" i="0">
                <a:solidFill>
                  <a:srgbClr val="FFFFFF"/>
                </a:solidFill>
                <a:latin typeface="Segoe UI"/>
              </a:rPr>
              <a:t>The entire pipeline in one run</a:t>
            </a:r>
          </a:p>
        </p:txBody>
      </p:sp>
      <p:sp>
        <p:nvSpPr>
          <p:cNvPr id="6" name="TextBox 5"/>
          <p:cNvSpPr txBox="1"/>
          <p:nvPr/>
        </p:nvSpPr>
        <p:spPr>
          <a:xfrm>
            <a:off x="566928" y="3794760"/>
            <a:ext cx="9601200" cy="1097280"/>
          </a:xfrm>
          <a:prstGeom prst="rect">
            <a:avLst/>
          </a:prstGeom>
          <a:noFill/>
        </p:spPr>
        <p:txBody>
          <a:bodyPr wrap="square" anchor="t">
            <a:spAutoFit/>
          </a:bodyPr>
          <a:lstStyle/>
          <a:p>
            <a:pPr algn="l">
              <a:lnSpc>
                <a:spcPct val="120000"/>
              </a:lnSpc>
              <a:spcBef>
                <a:spcPts val="0"/>
              </a:spcBef>
              <a:spcAft>
                <a:spcPts val="400"/>
              </a:spcAft>
            </a:pPr>
            <a:r>
              <a:rPr sz="1700" b="0" i="0">
                <a:solidFill>
                  <a:srgbClr val="93ABC9"/>
                </a:solidFill>
                <a:latin typeface="Segoe UI"/>
              </a:rPr>
              <a:t>One refreshAllKoboTools() run: prepare shared data once, build all five, then deploy</a:t>
            </a:r>
          </a:p>
        </p:txBody>
      </p:sp>
      <p:sp>
        <p:nvSpPr>
          <p:cNvPr id="7" name="Rounded Rectangle 6"/>
          <p:cNvSpPr/>
          <p:nvPr/>
        </p:nvSpPr>
        <p:spPr>
          <a:xfrm>
            <a:off x="566928" y="1234440"/>
            <a:ext cx="274320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Part 4 · Entire pipeline</a:t>
            </a:r>
          </a:p>
        </p:txBody>
      </p:sp>
      <p:sp>
        <p:nvSpPr>
          <p:cNvPr id="8" name="TextBox 7"/>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9" name="TextBox 8"/>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57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57A8E8"/>
                </a:solidFill>
                <a:latin typeface="Segoe UI"/>
              </a:rPr>
              <a:t>PREPARATION</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Shared work that runs once</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Part 4 · Entire pipeline</a:t>
            </a:r>
          </a:p>
        </p:txBody>
      </p:sp>
      <p:sp>
        <p:nvSpPr>
          <p:cNvPr id="7" name="TextBox 6"/>
          <p:cNvSpPr txBox="1"/>
          <p:nvPr/>
        </p:nvSpPr>
        <p:spPr>
          <a:xfrm>
            <a:off x="566928" y="1783080"/>
            <a:ext cx="11057839" cy="457200"/>
          </a:xfrm>
          <a:prstGeom prst="rect">
            <a:avLst/>
          </a:prstGeom>
          <a:noFill/>
        </p:spPr>
        <p:txBody>
          <a:bodyPr wrap="square" anchor="t">
            <a:spAutoFit/>
          </a:bodyPr>
          <a:lstStyle/>
          <a:p>
            <a:pPr algn="l">
              <a:lnSpc>
                <a:spcPct val="100000"/>
              </a:lnSpc>
              <a:spcBef>
                <a:spcPts val="0"/>
              </a:spcBef>
              <a:spcAft>
                <a:spcPts val="400"/>
              </a:spcAft>
            </a:pPr>
            <a:r>
              <a:rPr sz="1300" b="0" i="1">
                <a:solidFill>
                  <a:srgbClr val="93ABC9"/>
                </a:solidFill>
                <a:latin typeface="Segoe UI"/>
              </a:rPr>
              <a:t>Lock, verify config and token, sync both databases, then generate all outputs.</a:t>
            </a:r>
          </a:p>
        </p:txBody>
      </p:sp>
      <p:sp>
        <p:nvSpPr>
          <p:cNvPr id="8" name="Rounded Rectangle 7"/>
          <p:cNvSpPr/>
          <p:nvPr/>
        </p:nvSpPr>
        <p:spPr>
          <a:xfrm>
            <a:off x="566928" y="2240280"/>
            <a:ext cx="11057839" cy="694944"/>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76656" y="2422652"/>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1</a:t>
            </a:r>
          </a:p>
        </p:txBody>
      </p:sp>
      <p:sp>
        <p:nvSpPr>
          <p:cNvPr id="10" name="TextBox 9"/>
          <p:cNvSpPr txBox="1"/>
          <p:nvPr/>
        </p:nvSpPr>
        <p:spPr>
          <a:xfrm>
            <a:off x="1133856" y="2258568"/>
            <a:ext cx="10372039" cy="694944"/>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Finally, the entire process in a single run. The script takes a lock and verifies the configuration and the Kobo token.</a:t>
            </a:r>
          </a:p>
        </p:txBody>
      </p:sp>
      <p:sp>
        <p:nvSpPr>
          <p:cNvPr id="11" name="Rounded Rectangle 10"/>
          <p:cNvSpPr/>
          <p:nvPr/>
        </p:nvSpPr>
        <p:spPr>
          <a:xfrm>
            <a:off x="566928" y="3044952"/>
            <a:ext cx="11057839" cy="694944"/>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76656" y="3227324"/>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2</a:t>
            </a:r>
          </a:p>
        </p:txBody>
      </p:sp>
      <p:sp>
        <p:nvSpPr>
          <p:cNvPr id="13" name="TextBox 12"/>
          <p:cNvSpPr txBox="1"/>
          <p:nvPr/>
        </p:nvSpPr>
        <p:spPr>
          <a:xfrm>
            <a:off x="1133856" y="3063240"/>
            <a:ext cx="10372039" cy="694944"/>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It syncs the mentee database. Active rows only, with normalised I.D.s and programmes.</a:t>
            </a:r>
          </a:p>
        </p:txBody>
      </p:sp>
      <p:sp>
        <p:nvSpPr>
          <p:cNvPr id="14" name="Rounded Rectangle 13"/>
          <p:cNvSpPr/>
          <p:nvPr/>
        </p:nvSpPr>
        <p:spPr>
          <a:xfrm>
            <a:off x="566928" y="3849624"/>
            <a:ext cx="11057839" cy="694944"/>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76656" y="403199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3</a:t>
            </a:r>
          </a:p>
        </p:txBody>
      </p:sp>
      <p:sp>
        <p:nvSpPr>
          <p:cNvPr id="16" name="TextBox 15"/>
          <p:cNvSpPr txBox="1"/>
          <p:nvPr/>
        </p:nvSpPr>
        <p:spPr>
          <a:xfrm>
            <a:off x="1133856" y="3867912"/>
            <a:ext cx="10372039" cy="694944"/>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It syncs the mentors, remapping the headers and filtering to the allowed counties.</a:t>
            </a:r>
          </a:p>
        </p:txBody>
      </p:sp>
      <p:sp>
        <p:nvSpPr>
          <p:cNvPr id="17" name="Rounded Rectangle 16"/>
          <p:cNvSpPr/>
          <p:nvPr/>
        </p:nvSpPr>
        <p:spPr>
          <a:xfrm>
            <a:off x="566928" y="4654296"/>
            <a:ext cx="11057839" cy="694944"/>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76656" y="4836668"/>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4</a:t>
            </a:r>
          </a:p>
        </p:txBody>
      </p:sp>
      <p:sp>
        <p:nvSpPr>
          <p:cNvPr id="19" name="TextBox 18"/>
          <p:cNvSpPr txBox="1"/>
          <p:nvPr/>
        </p:nvSpPr>
        <p:spPr>
          <a:xfrm>
            <a:off x="1133856" y="4672584"/>
            <a:ext cx="10372039" cy="694944"/>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It generates all of the shared output sheets, once.</a:t>
            </a:r>
          </a:p>
        </p:txBody>
      </p:sp>
      <p:sp>
        <p:nvSpPr>
          <p:cNvPr id="20" name="Rounded Rectangle 19"/>
          <p:cNvSpPr/>
          <p:nvPr/>
        </p:nvSpPr>
        <p:spPr>
          <a:xfrm>
            <a:off x="566928" y="5458968"/>
            <a:ext cx="11057839" cy="694944"/>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76656" y="5641340"/>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5</a:t>
            </a:r>
          </a:p>
        </p:txBody>
      </p:sp>
      <p:sp>
        <p:nvSpPr>
          <p:cNvPr id="22" name="TextBox 21"/>
          <p:cNvSpPr txBox="1"/>
          <p:nvPr/>
        </p:nvSpPr>
        <p:spPr>
          <a:xfrm>
            <a:off x="1133856" y="5477256"/>
            <a:ext cx="10372039" cy="694944"/>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Prepared once, consumed five times. The registry queue holds all five enabled builders, in order.</a:t>
            </a:r>
          </a:p>
        </p:txBody>
      </p:sp>
      <p:sp>
        <p:nvSpPr>
          <p:cNvPr id="23" name="TextBox 22"/>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24" name="TextBox 23"/>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57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57A8E8"/>
                </a:solidFill>
                <a:latin typeface="Segoe UI"/>
              </a:rPr>
              <a:t>BUILD QUEUE</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Build all five, in order</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Part 4 · Entire pipeline</a:t>
            </a:r>
          </a:p>
        </p:txBody>
      </p:sp>
      <p:sp>
        <p:nvSpPr>
          <p:cNvPr id="7" name="TextBox 6"/>
          <p:cNvSpPr txBox="1"/>
          <p:nvPr/>
        </p:nvSpPr>
        <p:spPr>
          <a:xfrm>
            <a:off x="566928" y="1783080"/>
            <a:ext cx="11057839" cy="457200"/>
          </a:xfrm>
          <a:prstGeom prst="rect">
            <a:avLst/>
          </a:prstGeom>
          <a:noFill/>
        </p:spPr>
        <p:txBody>
          <a:bodyPr wrap="square" anchor="t">
            <a:spAutoFit/>
          </a:bodyPr>
          <a:lstStyle/>
          <a:p>
            <a:pPr algn="l">
              <a:lnSpc>
                <a:spcPct val="100000"/>
              </a:lnSpc>
              <a:spcBef>
                <a:spcPts val="0"/>
              </a:spcBef>
              <a:spcAft>
                <a:spcPts val="400"/>
              </a:spcAft>
            </a:pPr>
            <a:r>
              <a:rPr sz="1300" b="0" i="1">
                <a:solidFill>
                  <a:srgbClr val="93ABC9"/>
                </a:solidFill>
                <a:latin typeface="Segoe UI"/>
              </a:rPr>
              <a:t>Each builder gets an isolated result; one failure never hides the others.</a:t>
            </a:r>
          </a:p>
        </p:txBody>
      </p:sp>
      <p:sp>
        <p:nvSpPr>
          <p:cNvPr id="8" name="Rounded Rectangle 7"/>
          <p:cNvSpPr/>
          <p:nvPr/>
        </p:nvSpPr>
        <p:spPr>
          <a:xfrm>
            <a:off x="566928" y="2240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76656" y="2591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1</a:t>
            </a:r>
          </a:p>
        </p:txBody>
      </p:sp>
      <p:sp>
        <p:nvSpPr>
          <p:cNvPr id="10" name="TextBox 9"/>
          <p:cNvSpPr txBox="1"/>
          <p:nvPr/>
        </p:nvSpPr>
        <p:spPr>
          <a:xfrm>
            <a:off x="1133856" y="2258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Build one. EmONC Curriculum Tracking, built and validated.</a:t>
            </a:r>
          </a:p>
        </p:txBody>
      </p:sp>
      <p:sp>
        <p:nvSpPr>
          <p:cNvPr id="11" name="Rounded Rectangle 10"/>
          <p:cNvSpPr/>
          <p:nvPr/>
        </p:nvSpPr>
        <p:spPr>
          <a:xfrm>
            <a:off x="566928" y="3383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76656" y="3734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2</a:t>
            </a:r>
          </a:p>
        </p:txBody>
      </p:sp>
      <p:sp>
        <p:nvSpPr>
          <p:cNvPr id="13" name="TextBox 12"/>
          <p:cNvSpPr txBox="1"/>
          <p:nvPr/>
        </p:nvSpPr>
        <p:spPr>
          <a:xfrm>
            <a:off x="1133856" y="3401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Build two. Newborn Curriculum Tracking.</a:t>
            </a:r>
          </a:p>
        </p:txBody>
      </p:sp>
      <p:sp>
        <p:nvSpPr>
          <p:cNvPr id="14" name="Rounded Rectangle 13"/>
          <p:cNvSpPr/>
          <p:nvPr/>
        </p:nvSpPr>
        <p:spPr>
          <a:xfrm>
            <a:off x="566928" y="4526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76656" y="4877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3</a:t>
            </a:r>
          </a:p>
        </p:txBody>
      </p:sp>
      <p:sp>
        <p:nvSpPr>
          <p:cNvPr id="16" name="TextBox 15"/>
          <p:cNvSpPr txBox="1"/>
          <p:nvPr/>
        </p:nvSpPr>
        <p:spPr>
          <a:xfrm>
            <a:off x="1133856" y="4544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Build three. MoH Skills Assessment.</a:t>
            </a:r>
          </a:p>
        </p:txBody>
      </p:sp>
      <p:sp>
        <p:nvSpPr>
          <p:cNvPr id="17" name="Rounded Rectangle 16"/>
          <p:cNvSpPr/>
          <p:nvPr/>
        </p:nvSpPr>
        <p:spPr>
          <a:xfrm>
            <a:off x="6278727" y="2240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88455" y="2591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4</a:t>
            </a:r>
          </a:p>
        </p:txBody>
      </p:sp>
      <p:sp>
        <p:nvSpPr>
          <p:cNvPr id="19" name="TextBox 18"/>
          <p:cNvSpPr txBox="1"/>
          <p:nvPr/>
        </p:nvSpPr>
        <p:spPr>
          <a:xfrm>
            <a:off x="6845655" y="2258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Build four. Newborn Knowledge Assessment.</a:t>
            </a:r>
          </a:p>
        </p:txBody>
      </p:sp>
      <p:sp>
        <p:nvSpPr>
          <p:cNvPr id="20" name="Rounded Rectangle 19"/>
          <p:cNvSpPr/>
          <p:nvPr/>
        </p:nvSpPr>
        <p:spPr>
          <a:xfrm>
            <a:off x="6278727" y="3383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88455" y="3734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5</a:t>
            </a:r>
          </a:p>
        </p:txBody>
      </p:sp>
      <p:sp>
        <p:nvSpPr>
          <p:cNvPr id="22" name="TextBox 21"/>
          <p:cNvSpPr txBox="1"/>
          <p:nvPr/>
        </p:nvSpPr>
        <p:spPr>
          <a:xfrm>
            <a:off x="6845655" y="3401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Build five. EmONC Knowledge Assessment.</a:t>
            </a:r>
          </a:p>
        </p:txBody>
      </p:sp>
      <p:sp>
        <p:nvSpPr>
          <p:cNvPr id="23" name="Rounded Rectangle 22"/>
          <p:cNvSpPr/>
          <p:nvPr/>
        </p:nvSpPr>
        <p:spPr>
          <a:xfrm>
            <a:off x="6278727" y="4526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388455" y="4877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6</a:t>
            </a:r>
          </a:p>
        </p:txBody>
      </p:sp>
      <p:sp>
        <p:nvSpPr>
          <p:cNvPr id="25" name="TextBox 24"/>
          <p:cNvSpPr txBox="1"/>
          <p:nvPr/>
        </p:nvSpPr>
        <p:spPr>
          <a:xfrm>
            <a:off x="6845655" y="4544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Five out of five built. Only successful builds move on, so a failed builder can never redeploy a stale sheet.</a:t>
            </a:r>
          </a:p>
        </p:txBody>
      </p:sp>
      <p:sp>
        <p:nvSpPr>
          <p:cNvPr id="26" name="TextBox 25"/>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27" name="TextBox 26"/>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02920"/>
            <a:ext cx="822960" cy="50800"/>
          </a:xfrm>
          <a:prstGeom prst="rect">
            <a:avLst/>
          </a:prstGeom>
          <a:solidFill>
            <a:srgbClr val="57A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603504"/>
            <a:ext cx="11057839" cy="365760"/>
          </a:xfrm>
          <a:prstGeom prst="rect">
            <a:avLst/>
          </a:prstGeom>
          <a:noFill/>
        </p:spPr>
        <p:txBody>
          <a:bodyPr wrap="square" anchor="t">
            <a:spAutoFit/>
          </a:bodyPr>
          <a:lstStyle/>
          <a:p>
            <a:pPr algn="l">
              <a:lnSpc>
                <a:spcPct val="100000"/>
              </a:lnSpc>
              <a:spcBef>
                <a:spcPts val="0"/>
              </a:spcBef>
              <a:spcAft>
                <a:spcPts val="400"/>
              </a:spcAft>
            </a:pPr>
            <a:r>
              <a:rPr sz="1200" b="1" i="0">
                <a:solidFill>
                  <a:srgbClr val="57A8E8"/>
                </a:solidFill>
                <a:latin typeface="Segoe UI"/>
              </a:rPr>
              <a:t>DEPLOY QUEUE</a:t>
            </a:r>
          </a:p>
        </p:txBody>
      </p:sp>
      <p:sp>
        <p:nvSpPr>
          <p:cNvPr id="5" name="TextBox 4"/>
          <p:cNvSpPr txBox="1"/>
          <p:nvPr/>
        </p:nvSpPr>
        <p:spPr>
          <a:xfrm>
            <a:off x="566928" y="868680"/>
            <a:ext cx="11057839" cy="822960"/>
          </a:xfrm>
          <a:prstGeom prst="rect">
            <a:avLst/>
          </a:prstGeom>
          <a:noFill/>
        </p:spPr>
        <p:txBody>
          <a:bodyPr wrap="square" anchor="t">
            <a:spAutoFit/>
          </a:bodyPr>
          <a:lstStyle/>
          <a:p>
            <a:pPr algn="l">
              <a:lnSpc>
                <a:spcPct val="100000"/>
              </a:lnSpc>
              <a:spcBef>
                <a:spcPts val="0"/>
              </a:spcBef>
              <a:spcAft>
                <a:spcPts val="400"/>
              </a:spcAft>
            </a:pPr>
            <a:r>
              <a:rPr sz="3000" b="1" i="0">
                <a:solidFill>
                  <a:srgbClr val="FFFFFF"/>
                </a:solidFill>
                <a:latin typeface="Segoe UI"/>
              </a:rPr>
              <a:t>Import and activate all five</a:t>
            </a:r>
          </a:p>
        </p:txBody>
      </p:sp>
      <p:sp>
        <p:nvSpPr>
          <p:cNvPr id="6" name="Rounded Rectangle 5"/>
          <p:cNvSpPr/>
          <p:nvPr/>
        </p:nvSpPr>
        <p:spPr>
          <a:xfrm>
            <a:off x="9155887" y="566928"/>
            <a:ext cx="2468880" cy="304800"/>
          </a:xfrm>
          <a:prstGeom prst="roundRect">
            <a:avLst/>
          </a:prstGeom>
          <a:solidFill>
            <a:srgbClr val="1B3760"/>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wrap="none" tIns="0" bIns="0"/>
          <a:lstStyle/>
          <a:p>
            <a:pPr algn="ctr"/>
            <a:r>
              <a:rPr sz="1000" b="1">
                <a:solidFill>
                  <a:srgbClr val="57A8E8"/>
                </a:solidFill>
                <a:latin typeface="Segoe UI"/>
              </a:rPr>
              <a:t>Part 4 · Entire pipeline</a:t>
            </a:r>
          </a:p>
        </p:txBody>
      </p:sp>
      <p:sp>
        <p:nvSpPr>
          <p:cNvPr id="7" name="TextBox 6"/>
          <p:cNvSpPr txBox="1"/>
          <p:nvPr/>
        </p:nvSpPr>
        <p:spPr>
          <a:xfrm>
            <a:off x="566928" y="1783080"/>
            <a:ext cx="11057839" cy="457200"/>
          </a:xfrm>
          <a:prstGeom prst="rect">
            <a:avLst/>
          </a:prstGeom>
          <a:noFill/>
        </p:spPr>
        <p:txBody>
          <a:bodyPr wrap="square" anchor="t">
            <a:spAutoFit/>
          </a:bodyPr>
          <a:lstStyle/>
          <a:p>
            <a:pPr algn="l">
              <a:lnSpc>
                <a:spcPct val="100000"/>
              </a:lnSpc>
              <a:spcBef>
                <a:spcPts val="0"/>
              </a:spcBef>
              <a:spcAft>
                <a:spcPts val="400"/>
              </a:spcAft>
            </a:pPr>
            <a:r>
              <a:rPr sz="1300" b="0" i="1">
                <a:solidFill>
                  <a:srgbClr val="93ABC9"/>
                </a:solidFill>
                <a:latin typeface="Segoe UI"/>
              </a:rPr>
              <a:t>Only successful builds are deployed — a stale sheet can never go live.</a:t>
            </a:r>
          </a:p>
        </p:txBody>
      </p:sp>
      <p:sp>
        <p:nvSpPr>
          <p:cNvPr id="8" name="Rounded Rectangle 7"/>
          <p:cNvSpPr/>
          <p:nvPr/>
        </p:nvSpPr>
        <p:spPr>
          <a:xfrm>
            <a:off x="566928" y="2240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76656" y="2591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1</a:t>
            </a:r>
          </a:p>
        </p:txBody>
      </p:sp>
      <p:sp>
        <p:nvSpPr>
          <p:cNvPr id="10" name="TextBox 9"/>
          <p:cNvSpPr txBox="1"/>
          <p:nvPr/>
        </p:nvSpPr>
        <p:spPr>
          <a:xfrm>
            <a:off x="1133856" y="2258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Deploying the EmONC Curriculum Tracking asset.</a:t>
            </a:r>
          </a:p>
        </p:txBody>
      </p:sp>
      <p:sp>
        <p:nvSpPr>
          <p:cNvPr id="11" name="Rounded Rectangle 10"/>
          <p:cNvSpPr/>
          <p:nvPr/>
        </p:nvSpPr>
        <p:spPr>
          <a:xfrm>
            <a:off x="566928" y="3383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76656" y="3734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2</a:t>
            </a:r>
          </a:p>
        </p:txBody>
      </p:sp>
      <p:sp>
        <p:nvSpPr>
          <p:cNvPr id="13" name="TextBox 12"/>
          <p:cNvSpPr txBox="1"/>
          <p:nvPr/>
        </p:nvSpPr>
        <p:spPr>
          <a:xfrm>
            <a:off x="1133856" y="3401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Newborn Curriculum Tracking is live.</a:t>
            </a:r>
          </a:p>
        </p:txBody>
      </p:sp>
      <p:sp>
        <p:nvSpPr>
          <p:cNvPr id="14" name="Rounded Rectangle 13"/>
          <p:cNvSpPr/>
          <p:nvPr/>
        </p:nvSpPr>
        <p:spPr>
          <a:xfrm>
            <a:off x="566928" y="4526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76656" y="4877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3</a:t>
            </a:r>
          </a:p>
        </p:txBody>
      </p:sp>
      <p:sp>
        <p:nvSpPr>
          <p:cNvPr id="16" name="TextBox 15"/>
          <p:cNvSpPr txBox="1"/>
          <p:nvPr/>
        </p:nvSpPr>
        <p:spPr>
          <a:xfrm>
            <a:off x="1133856" y="4544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MoH Skills Assessment is live.</a:t>
            </a:r>
          </a:p>
        </p:txBody>
      </p:sp>
      <p:sp>
        <p:nvSpPr>
          <p:cNvPr id="17" name="Rounded Rectangle 16"/>
          <p:cNvSpPr/>
          <p:nvPr/>
        </p:nvSpPr>
        <p:spPr>
          <a:xfrm>
            <a:off x="6278727" y="2240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88455" y="2591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4</a:t>
            </a:r>
          </a:p>
        </p:txBody>
      </p:sp>
      <p:sp>
        <p:nvSpPr>
          <p:cNvPr id="19" name="TextBox 18"/>
          <p:cNvSpPr txBox="1"/>
          <p:nvPr/>
        </p:nvSpPr>
        <p:spPr>
          <a:xfrm>
            <a:off x="6845655" y="2258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Newborn Knowledge Assessment is live.</a:t>
            </a:r>
          </a:p>
        </p:txBody>
      </p:sp>
      <p:sp>
        <p:nvSpPr>
          <p:cNvPr id="20" name="Rounded Rectangle 19"/>
          <p:cNvSpPr/>
          <p:nvPr/>
        </p:nvSpPr>
        <p:spPr>
          <a:xfrm>
            <a:off x="6278727" y="3383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88455" y="3734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5</a:t>
            </a:r>
          </a:p>
        </p:txBody>
      </p:sp>
      <p:sp>
        <p:nvSpPr>
          <p:cNvPr id="22" name="TextBox 21"/>
          <p:cNvSpPr txBox="1"/>
          <p:nvPr/>
        </p:nvSpPr>
        <p:spPr>
          <a:xfrm>
            <a:off x="6845655" y="3401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EmONC Knowledge Assessment is live.</a:t>
            </a:r>
          </a:p>
        </p:txBody>
      </p:sp>
      <p:sp>
        <p:nvSpPr>
          <p:cNvPr id="23" name="Rounded Rectangle 22"/>
          <p:cNvSpPr/>
          <p:nvPr/>
        </p:nvSpPr>
        <p:spPr>
          <a:xfrm>
            <a:off x="6278727" y="4526280"/>
            <a:ext cx="5346039" cy="1033272"/>
          </a:xfrm>
          <a:prstGeom prst="roundRect">
            <a:avLst/>
          </a:prstGeom>
          <a:solidFill>
            <a:srgbClr val="142C4D"/>
          </a:solidFill>
          <a:ln w="12700">
            <a:solidFill>
              <a:srgbClr val="2750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388455" y="4877816"/>
            <a:ext cx="330200" cy="330200"/>
          </a:xfrm>
          <a:prstGeom prst="roundRect">
            <a:avLst/>
          </a:prstGeom>
          <a:solidFill>
            <a:srgbClr val="1B3760"/>
          </a:solidFill>
          <a:ln w="12700">
            <a:solidFill>
              <a:srgbClr val="57A8E8"/>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200" b="1">
                <a:solidFill>
                  <a:srgbClr val="57A8E8"/>
                </a:solidFill>
                <a:latin typeface="Segoe UI"/>
              </a:rPr>
              <a:t>6</a:t>
            </a:r>
          </a:p>
        </p:txBody>
      </p:sp>
      <p:sp>
        <p:nvSpPr>
          <p:cNvPr id="25" name="TextBox 24"/>
          <p:cNvSpPr txBox="1"/>
          <p:nvPr/>
        </p:nvSpPr>
        <p:spPr>
          <a:xfrm>
            <a:off x="6845655" y="4544568"/>
            <a:ext cx="4660239" cy="1033272"/>
          </a:xfrm>
          <a:prstGeom prst="rect">
            <a:avLst/>
          </a:prstGeom>
          <a:noFill/>
        </p:spPr>
        <p:txBody>
          <a:bodyPr wrap="square" anchor="ctr">
            <a:spAutoFit/>
          </a:bodyPr>
          <a:lstStyle/>
          <a:p>
            <a:pPr algn="l">
              <a:lnSpc>
                <a:spcPct val="102000"/>
              </a:lnSpc>
              <a:spcBef>
                <a:spcPts val="0"/>
              </a:spcBef>
              <a:spcAft>
                <a:spcPts val="400"/>
              </a:spcAft>
            </a:pPr>
            <a:r>
              <a:rPr sz="1250" b="0" i="0">
                <a:solidFill>
                  <a:srgbClr val="EAF1FA"/>
                </a:solidFill>
                <a:latin typeface="Segoe UI"/>
              </a:rPr>
              <a:t>The full pipeline is complete. Five built, five deployed, from one trigger.</a:t>
            </a:r>
          </a:p>
        </p:txBody>
      </p:sp>
      <p:sp>
        <p:nvSpPr>
          <p:cNvPr id="26" name="TextBox 25"/>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27" name="TextBox 26"/>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286000"/>
            <a:ext cx="914400" cy="63500"/>
          </a:xfrm>
          <a:prstGeom prst="rect">
            <a:avLst/>
          </a:prstGeom>
          <a:solidFill>
            <a:srgbClr val="2FA3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423160"/>
            <a:ext cx="11057839" cy="914400"/>
          </a:xfrm>
          <a:prstGeom prst="rect">
            <a:avLst/>
          </a:prstGeom>
          <a:noFill/>
        </p:spPr>
        <p:txBody>
          <a:bodyPr wrap="square" anchor="t">
            <a:spAutoFit/>
          </a:bodyPr>
          <a:lstStyle/>
          <a:p>
            <a:pPr algn="l">
              <a:lnSpc>
                <a:spcPct val="100000"/>
              </a:lnSpc>
              <a:spcBef>
                <a:spcPts val="0"/>
              </a:spcBef>
              <a:spcAft>
                <a:spcPts val="400"/>
              </a:spcAft>
            </a:pPr>
            <a:r>
              <a:rPr sz="3600" b="1" i="0">
                <a:solidFill>
                  <a:srgbClr val="FFFFFF"/>
                </a:solidFill>
                <a:latin typeface="Segoe UI"/>
              </a:rPr>
              <a:t>One trigger. Five live forms.</a:t>
            </a:r>
          </a:p>
        </p:txBody>
      </p:sp>
      <p:sp>
        <p:nvSpPr>
          <p:cNvPr id="5" name="TextBox 4"/>
          <p:cNvSpPr txBox="1"/>
          <p:nvPr/>
        </p:nvSpPr>
        <p:spPr>
          <a:xfrm>
            <a:off x="566928" y="3566160"/>
            <a:ext cx="8686800" cy="2377440"/>
          </a:xfrm>
          <a:prstGeom prst="rect">
            <a:avLst/>
          </a:prstGeom>
          <a:noFill/>
        </p:spPr>
        <p:txBody>
          <a:bodyPr wrap="square" anchor="t">
            <a:spAutoFit/>
          </a:bodyPr>
          <a:lstStyle/>
          <a:p>
            <a:pPr algn="l">
              <a:lnSpc>
                <a:spcPct val="110000"/>
              </a:lnSpc>
              <a:spcBef>
                <a:spcPts val="0"/>
              </a:spcBef>
              <a:spcAft>
                <a:spcPts val="800"/>
              </a:spcAft>
            </a:pPr>
            <a:r>
              <a:rPr sz="1500" b="1" i="0">
                <a:solidFill>
                  <a:srgbClr val="2FA36B"/>
                </a:solidFill>
                <a:latin typeface="Segoe UI"/>
              </a:rPr>
              <a:t>✓  </a:t>
            </a:r>
            <a:r>
              <a:rPr sz="1500" b="0" i="0">
                <a:solidFill>
                  <a:srgbClr val="EAF1FA"/>
                </a:solidFill>
                <a:latin typeface="Segoe UI"/>
              </a:rPr>
              <a:t>Synced 2 hand-typed databases into clean local sheets</a:t>
            </a:r>
          </a:p>
          <a:p>
            <a:pPr algn="l">
              <a:lnSpc>
                <a:spcPct val="110000"/>
              </a:lnSpc>
              <a:spcBef>
                <a:spcPts val="0"/>
              </a:spcBef>
              <a:spcAft>
                <a:spcPts val="800"/>
              </a:spcAft>
            </a:pPr>
            <a:r>
              <a:rPr sz="1500" b="1" i="0">
                <a:solidFill>
                  <a:srgbClr val="2FA36B"/>
                </a:solidFill>
                <a:latin typeface="Segoe UI"/>
              </a:rPr>
              <a:t>✓  </a:t>
            </a:r>
            <a:r>
              <a:rPr sz="1500" b="0" i="0">
                <a:solidFill>
                  <a:srgbClr val="EAF1FA"/>
                </a:solidFill>
                <a:latin typeface="Segoe UI"/>
              </a:rPr>
              <a:t>Generated 14 shared choice / survey / logic sheets</a:t>
            </a:r>
          </a:p>
          <a:p>
            <a:pPr algn="l">
              <a:lnSpc>
                <a:spcPct val="110000"/>
              </a:lnSpc>
              <a:spcBef>
                <a:spcPts val="0"/>
              </a:spcBef>
              <a:spcAft>
                <a:spcPts val="800"/>
              </a:spcAft>
            </a:pPr>
            <a:r>
              <a:rPr sz="1500" b="1" i="0">
                <a:solidFill>
                  <a:srgbClr val="2FA36B"/>
                </a:solidFill>
                <a:latin typeface="Segoe UI"/>
              </a:rPr>
              <a:t>✓  </a:t>
            </a:r>
            <a:r>
              <a:rPr sz="1500" b="0" i="0">
                <a:solidFill>
                  <a:srgbClr val="EAF1FA"/>
                </a:solidFill>
                <a:latin typeface="Segoe UI"/>
              </a:rPr>
              <a:t>Built and validated 5 forms the way Kobo would</a:t>
            </a:r>
          </a:p>
          <a:p>
            <a:pPr algn="l">
              <a:lnSpc>
                <a:spcPct val="110000"/>
              </a:lnSpc>
              <a:spcBef>
                <a:spcPts val="0"/>
              </a:spcBef>
              <a:spcAft>
                <a:spcPts val="800"/>
              </a:spcAft>
            </a:pPr>
            <a:r>
              <a:rPr sz="1500" b="1" i="0">
                <a:solidFill>
                  <a:srgbClr val="2FA36B"/>
                </a:solidFill>
                <a:latin typeface="Segoe UI"/>
              </a:rPr>
              <a:t>✓  </a:t>
            </a:r>
            <a:r>
              <a:rPr sz="1500" b="0" i="0">
                <a:solidFill>
                  <a:srgbClr val="EAF1FA"/>
                </a:solidFill>
                <a:latin typeface="Segoe UI"/>
              </a:rPr>
              <a:t>Deployed 5 Kobo projects on eu.kobotoolbox.org</a:t>
            </a:r>
          </a:p>
          <a:p>
            <a:pPr algn="l">
              <a:lnSpc>
                <a:spcPct val="110000"/>
              </a:lnSpc>
              <a:spcBef>
                <a:spcPts val="0"/>
              </a:spcBef>
              <a:spcAft>
                <a:spcPts val="800"/>
              </a:spcAft>
            </a:pPr>
            <a:r>
              <a:rPr sz="1500" b="1" i="0">
                <a:solidFill>
                  <a:srgbClr val="2FA36B"/>
                </a:solidFill>
                <a:latin typeface="Segoe UI"/>
              </a:rPr>
              <a:t>✓  </a:t>
            </a:r>
            <a:r>
              <a:rPr sz="1500" b="0" i="0">
                <a:solidFill>
                  <a:srgbClr val="EAF1FA"/>
                </a:solidFill>
                <a:latin typeface="Segoe UI"/>
              </a:rPr>
              <a:t>Status = ok · 5 built · 5 deployed</a:t>
            </a:r>
          </a:p>
        </p:txBody>
      </p:sp>
      <p:sp>
        <p:nvSpPr>
          <p:cNvPr id="6" name="TextBox 5"/>
          <p:cNvSpPr txBox="1"/>
          <p:nvPr/>
        </p:nvSpPr>
        <p:spPr>
          <a:xfrm>
            <a:off x="566928" y="5989320"/>
            <a:ext cx="11057839" cy="457200"/>
          </a:xfrm>
          <a:prstGeom prst="rect">
            <a:avLst/>
          </a:prstGeom>
          <a:noFill/>
        </p:spPr>
        <p:txBody>
          <a:bodyPr wrap="square" anchor="t">
            <a:spAutoFit/>
          </a:bodyPr>
          <a:lstStyle/>
          <a:p>
            <a:pPr algn="l">
              <a:lnSpc>
                <a:spcPct val="100000"/>
              </a:lnSpc>
              <a:spcBef>
                <a:spcPts val="0"/>
              </a:spcBef>
              <a:spcAft>
                <a:spcPts val="400"/>
              </a:spcAft>
            </a:pPr>
            <a:r>
              <a:rPr sz="1250" b="0" i="0">
                <a:solidFill>
                  <a:srgbClr val="57A8E8"/>
                </a:solidFill>
                <a:latin typeface="Segoe UI"/>
              </a:rPr>
              <a:t>Interactive, narrated version: Kobo_Pipeline_Simulator.html</a:t>
            </a:r>
          </a:p>
        </p:txBody>
      </p:sp>
      <p:sp>
        <p:nvSpPr>
          <p:cNvPr id="7" name="TextBox 6"/>
          <p:cNvSpPr txBox="1"/>
          <p:nvPr/>
        </p:nvSpPr>
        <p:spPr>
          <a:xfrm>
            <a:off x="566928" y="6400800"/>
            <a:ext cx="7315200" cy="320040"/>
          </a:xfrm>
          <a:prstGeom prst="rect">
            <a:avLst/>
          </a:prstGeom>
          <a:noFill/>
        </p:spPr>
        <p:txBody>
          <a:bodyPr wrap="square" anchor="t">
            <a:spAutoFit/>
          </a:bodyPr>
          <a:lstStyle/>
          <a:p>
            <a:pPr algn="l">
              <a:lnSpc>
                <a:spcPct val="100000"/>
              </a:lnSpc>
              <a:spcBef>
                <a:spcPts val="0"/>
              </a:spcBef>
              <a:spcAft>
                <a:spcPts val="400"/>
              </a:spcAft>
            </a:pPr>
            <a:r>
              <a:rPr sz="900" b="0" i="0">
                <a:solidFill>
                  <a:srgbClr val="93ABC9"/>
                </a:solidFill>
                <a:latin typeface="Segoe UI"/>
              </a:rPr>
              <a:t>Kobo Tool Creator — pipeline walkthrough</a:t>
            </a:r>
          </a:p>
        </p:txBody>
      </p:sp>
      <p:sp>
        <p:nvSpPr>
          <p:cNvPr id="8" name="TextBox 7"/>
          <p:cNvSpPr txBox="1"/>
          <p:nvPr/>
        </p:nvSpPr>
        <p:spPr>
          <a:xfrm>
            <a:off x="9795967" y="6400800"/>
            <a:ext cx="1828800" cy="320040"/>
          </a:xfrm>
          <a:prstGeom prst="rect">
            <a:avLst/>
          </a:prstGeom>
          <a:noFill/>
        </p:spPr>
        <p:txBody>
          <a:bodyPr wrap="square" anchor="t">
            <a:spAutoFit/>
          </a:bodyPr>
          <a:lstStyle/>
          <a:p>
            <a:pPr algn="r">
              <a:lnSpc>
                <a:spcPct val="100000"/>
              </a:lnSpc>
              <a:spcBef>
                <a:spcPts val="0"/>
              </a:spcBef>
              <a:spcAft>
                <a:spcPts val="400"/>
              </a:spcAft>
            </a:pPr>
            <a:r>
              <a:rPr sz="900" b="0" i="0">
                <a:solidFill>
                  <a:srgbClr val="93ABC9"/>
                </a:solidFill>
                <a:latin typeface="Segoe UI"/>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