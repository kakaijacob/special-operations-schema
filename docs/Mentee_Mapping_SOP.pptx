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612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FD4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201168" y="5394960"/>
            <a:ext cx="11990527" cy="1463040"/>
          </a:xfrm>
          <a:prstGeom prst="rect">
            <a:avLst/>
          </a:prstGeom>
          <a:solidFill>
            <a:srgbClr val="2E35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875520" y="0"/>
            <a:ext cx="2313432" cy="6858000"/>
          </a:xfrm>
          <a:prstGeom prst="rect">
            <a:avLst/>
          </a:prstGeom>
          <a:solidFill>
            <a:srgbClr val="0C1A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69164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D4F00"/>
                </a:solidFill>
                <a:latin typeface="Calibri"/>
              </a:rPr>
              <a:t>STANDARD OPERATING PROCEDURE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148840"/>
            <a:ext cx="10515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>
                <a:solidFill>
                  <a:srgbClr val="FFFFFF"/>
                </a:solidFill>
                <a:latin typeface="Calibri"/>
              </a:rPr>
              <a:t>Mentee Mapping SOP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200400"/>
            <a:ext cx="9144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A9AEFF"/>
                </a:solidFill>
                <a:latin typeface="Calibri"/>
              </a:rPr>
              <a:t>From the Mentee Database to Kobo Tool Updates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" y="3886200"/>
            <a:ext cx="1097280" cy="54864"/>
          </a:xfrm>
          <a:prstGeom prst="rect">
            <a:avLst/>
          </a:prstGeom>
          <a:solidFill>
            <a:srgbClr val="FD4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571500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A5ACBA"/>
                </a:solidFill>
                <a:latin typeface="Calibri"/>
              </a:rPr>
              <a:t>Jacaranda Health  ·  MENTORS Program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0" y="57150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>
                <a:solidFill>
                  <a:srgbClr val="A5ACBA"/>
                </a:solidFill>
                <a:latin typeface="Calibri"/>
              </a:rPr>
              <a:t>Data Quality  ·  Automation  ·  Scale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FD4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612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565392"/>
            <a:ext cx="7315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A5ACBA"/>
                </a:solidFill>
                <a:latin typeface="Calibri"/>
              </a:rPr>
              <a:t>Mentee Mapping SOP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41280" y="6565392"/>
            <a:ext cx="14630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A5ACBA"/>
                </a:solidFill>
                <a:latin typeface="Calibri"/>
              </a:rPr>
              <a:t>2  /  14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320040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06121B"/>
                </a:solidFill>
                <a:latin typeface="Calibri"/>
              </a:rPr>
              <a:t>Where did we come from?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777240"/>
            <a:ext cx="11155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F6D7E"/>
                </a:solidFill>
                <a:latin typeface="Calibri"/>
              </a:rPr>
              <a:t>Evolution of mentee mapping approaches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" y="2331720"/>
            <a:ext cx="10515600" cy="36576"/>
          </a:xfrm>
          <a:prstGeom prst="rect">
            <a:avLst/>
          </a:prstGeom>
          <a:solidFill>
            <a:srgbClr val="A5ACB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645920" y="2194560"/>
            <a:ext cx="320040" cy="320040"/>
          </a:xfrm>
          <a:prstGeom prst="ellipse">
            <a:avLst/>
          </a:prstGeom>
          <a:solidFill>
            <a:srgbClr val="FD4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645920" y="2240280"/>
            <a:ext cx="3200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</a:rPr>
              <a:t>01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2788920"/>
            <a:ext cx="2514600" cy="3200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40080" y="2788920"/>
            <a:ext cx="2514600" cy="73152"/>
          </a:xfrm>
          <a:prstGeom prst="rect">
            <a:avLst/>
          </a:prstGeom>
          <a:solidFill>
            <a:srgbClr val="FD4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60" y="3063240"/>
            <a:ext cx="21945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06121B"/>
                </a:solidFill>
                <a:latin typeface="Calibri"/>
              </a:rPr>
              <a:t>Facility Level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4023360"/>
            <a:ext cx="219456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F6D7E"/>
                </a:solidFill>
                <a:latin typeface="Calibri"/>
              </a:rPr>
              <a:t>Tracked mentorship at facility level — not at mentee level.</a:t>
            </a:r>
          </a:p>
        </p:txBody>
      </p:sp>
      <p:sp>
        <p:nvSpPr>
          <p:cNvPr id="16" name="Oval 15"/>
          <p:cNvSpPr/>
          <p:nvPr/>
        </p:nvSpPr>
        <p:spPr>
          <a:xfrm>
            <a:off x="4389120" y="2194560"/>
            <a:ext cx="320040" cy="320040"/>
          </a:xfrm>
          <a:prstGeom prst="ellipse">
            <a:avLst/>
          </a:prstGeom>
          <a:solidFill>
            <a:srgbClr val="7478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389120" y="2240280"/>
            <a:ext cx="3200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</a:rPr>
              <a:t>02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383280" y="2788920"/>
            <a:ext cx="2514600" cy="3200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3383280" y="2788920"/>
            <a:ext cx="2514600" cy="73152"/>
          </a:xfrm>
          <a:prstGeom prst="rect">
            <a:avLst/>
          </a:prstGeom>
          <a:solidFill>
            <a:srgbClr val="7478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566160" y="3063240"/>
            <a:ext cx="21945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06121B"/>
                </a:solidFill>
                <a:latin typeface="Calibri"/>
              </a:rPr>
              <a:t>Random Mapping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566160" y="4023360"/>
            <a:ext cx="219456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F6D7E"/>
                </a:solidFill>
                <a:latin typeface="Calibri"/>
              </a:rPr>
              <a:t>IFMs keyed in mentee details on Kobo with activities undertaken.</a:t>
            </a:r>
          </a:p>
        </p:txBody>
      </p:sp>
      <p:sp>
        <p:nvSpPr>
          <p:cNvPr id="22" name="Oval 21"/>
          <p:cNvSpPr/>
          <p:nvPr/>
        </p:nvSpPr>
        <p:spPr>
          <a:xfrm>
            <a:off x="7132320" y="2194560"/>
            <a:ext cx="320040" cy="320040"/>
          </a:xfrm>
          <a:prstGeom prst="ellipse">
            <a:avLst/>
          </a:prstGeom>
          <a:solidFill>
            <a:srgbClr val="7478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132320" y="2240280"/>
            <a:ext cx="3200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</a:rPr>
              <a:t>03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26480" y="2788920"/>
            <a:ext cx="2514600" cy="3200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126480" y="2788920"/>
            <a:ext cx="2514600" cy="73152"/>
          </a:xfrm>
          <a:prstGeom prst="rect">
            <a:avLst/>
          </a:prstGeom>
          <a:solidFill>
            <a:srgbClr val="7478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309360" y="3063240"/>
            <a:ext cx="21945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06121B"/>
                </a:solidFill>
                <a:latin typeface="Calibri"/>
              </a:rPr>
              <a:t>PO-led Mapping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09360" y="4023360"/>
            <a:ext cx="219456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F6D7E"/>
                </a:solidFill>
                <a:latin typeface="Calibri"/>
              </a:rPr>
              <a:t>Preloaded mentee names on Kobo so IFMs simply select names.</a:t>
            </a:r>
          </a:p>
        </p:txBody>
      </p:sp>
      <p:sp>
        <p:nvSpPr>
          <p:cNvPr id="28" name="Oval 27"/>
          <p:cNvSpPr/>
          <p:nvPr/>
        </p:nvSpPr>
        <p:spPr>
          <a:xfrm>
            <a:off x="9875520" y="2194560"/>
            <a:ext cx="320040" cy="320040"/>
          </a:xfrm>
          <a:prstGeom prst="ellipse">
            <a:avLst/>
          </a:prstGeom>
          <a:solidFill>
            <a:srgbClr val="FD4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875520" y="2240280"/>
            <a:ext cx="3200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</a:rPr>
              <a:t>04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869680" y="2788920"/>
            <a:ext cx="2514600" cy="3200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8869680" y="2788920"/>
            <a:ext cx="2514600" cy="73152"/>
          </a:xfrm>
          <a:prstGeom prst="rect">
            <a:avLst/>
          </a:prstGeom>
          <a:solidFill>
            <a:srgbClr val="FD4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052560" y="3063240"/>
            <a:ext cx="21945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06121B"/>
                </a:solidFill>
                <a:latin typeface="Calibri"/>
              </a:rPr>
              <a:t>Facility-led
(Proposed)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052560" y="4023360"/>
            <a:ext cx="219456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F6D7E"/>
                </a:solidFill>
                <a:latin typeface="Calibri"/>
              </a:rPr>
              <a:t>IFM-led mentee mapping via a dedicated Kobo tool — future state.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FD4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612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565392"/>
            <a:ext cx="7315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A5ACBA"/>
                </a:solidFill>
                <a:latin typeface="Calibri"/>
              </a:rPr>
              <a:t>Mentee Mapping SOP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41280" y="6565392"/>
            <a:ext cx="14630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A5ACBA"/>
                </a:solidFill>
                <a:latin typeface="Calibri"/>
              </a:rPr>
              <a:t>3  /  14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27432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D4F00"/>
                </a:solidFill>
                <a:latin typeface="Calibri"/>
              </a:rPr>
              <a:t>APPROACH 01  ·  2018–2023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457200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06121B"/>
                </a:solidFill>
                <a:latin typeface="Calibri"/>
              </a:rPr>
              <a:t>Facility Level Mapping Approach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1234440"/>
            <a:ext cx="758952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400" b="0">
                <a:solidFill>
                  <a:srgbClr val="212B35"/>
                </a:solidFill>
                <a:latin typeface="Calibri"/>
              </a:rPr>
              <a:t>•  At the inception of the MENTORS program, data was tracked at facility level.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856232"/>
            <a:ext cx="7589520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400" b="0">
                <a:solidFill>
                  <a:srgbClr val="212B35"/>
                </a:solidFill>
                <a:latin typeface="Calibri"/>
              </a:rPr>
              <a:t>•  If a mentorship session — e.g. a CME on AMTSL — took place in a facility, we assumed that all HCWs in that facility were trained on that module.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2715768"/>
            <a:ext cx="7589520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400" b="0">
                <a:solidFill>
                  <a:srgbClr val="212B35"/>
                </a:solidFill>
                <a:latin typeface="Calibri"/>
              </a:rPr>
              <a:t>•  When we say we trained 7,441 HCWs in the pre-cohort model (2018–2023), it is an estimate based on HCWs working in the maternity wing of partner facilities at that time.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3575304"/>
            <a:ext cx="7589520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400" b="0">
                <a:solidFill>
                  <a:srgbClr val="212B35"/>
                </a:solidFill>
                <a:latin typeface="Calibri"/>
              </a:rPr>
              <a:t>•  This method was not very accurate — HCWs attrited through retirements, promotions, transfers, or lack of participation.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366760" y="1234440"/>
            <a:ext cx="3291840" cy="4572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366760" y="1234440"/>
            <a:ext cx="91440" cy="4572000"/>
          </a:xfrm>
          <a:prstGeom prst="rect">
            <a:avLst/>
          </a:prstGeom>
          <a:solidFill>
            <a:srgbClr val="FD4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0" y="1463040"/>
            <a:ext cx="2788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D4F00"/>
                </a:solidFill>
                <a:latin typeface="Calibri"/>
              </a:rPr>
              <a:t>Key takeaway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0" y="1965960"/>
            <a:ext cx="278892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300" b="0">
                <a:solidFill>
                  <a:srgbClr val="212B35"/>
                </a:solidFill>
                <a:latin typeface="Calibri"/>
              </a:rPr>
              <a:t>•  Facility-level counts were estimates, not individual reach.</a:t>
            </a:r>
          </a:p>
          <a:p>
            <a:pPr algn="l">
              <a:spcBef>
                <a:spcPts val="600"/>
              </a:spcBef>
              <a:spcAft>
                <a:spcPts val="200"/>
              </a:spcAft>
            </a:pPr>
            <a:r>
              <a:rPr sz="1300" b="0">
                <a:solidFill>
                  <a:srgbClr val="212B35"/>
                </a:solidFill>
                <a:latin typeface="Calibri"/>
              </a:rPr>
              <a:t>•  Attrition and non-participation inflated reported coverage.</a:t>
            </a:r>
          </a:p>
          <a:p>
            <a:pPr algn="l">
              <a:spcBef>
                <a:spcPts val="600"/>
              </a:spcBef>
              <a:spcAft>
                <a:spcPts val="200"/>
              </a:spcAft>
            </a:pPr>
            <a:r>
              <a:rPr sz="1300" b="0">
                <a:solidFill>
                  <a:srgbClr val="212B35"/>
                </a:solidFill>
                <a:latin typeface="Calibri"/>
              </a:rPr>
              <a:t>•  Drove the shift to mentee-level tracking.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FD4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612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565392"/>
            <a:ext cx="7315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A5ACBA"/>
                </a:solidFill>
                <a:latin typeface="Calibri"/>
              </a:rPr>
              <a:t>Mentee Mapping SOP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41280" y="6565392"/>
            <a:ext cx="14630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A5ACBA"/>
                </a:solidFill>
                <a:latin typeface="Calibri"/>
              </a:rPr>
              <a:t>4  /  14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27432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D4F00"/>
                </a:solidFill>
                <a:latin typeface="Calibri"/>
              </a:rPr>
              <a:t>APPROACH 02  ·  Mentee-level pivot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457200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06121B"/>
                </a:solidFill>
                <a:latin typeface="Calibri"/>
              </a:rPr>
              <a:t>Random Mapping Approach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1234440"/>
            <a:ext cx="758952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400" b="0">
                <a:solidFill>
                  <a:srgbClr val="212B35"/>
                </a:solidFill>
                <a:latin typeface="Calibri"/>
              </a:rPr>
              <a:t>•  JH pivoted to mentee-level tracking of MENTORS Program reach.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856232"/>
            <a:ext cx="7589520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400" b="0">
                <a:solidFill>
                  <a:srgbClr val="212B35"/>
                </a:solidFill>
                <a:latin typeface="Calibri"/>
              </a:rPr>
              <a:t>•  IFMs keyed in mentee details: select facility → enter mentee name → enter phone number (mentee_id) → select activities participated in.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2715768"/>
            <a:ext cx="758952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400" b="0">
                <a:solidFill>
                  <a:srgbClr val="212B35"/>
                </a:solidFill>
                <a:latin typeface="Calibri"/>
              </a:rPr>
              <a:t>•  This was an improvement over facility-level assumptions.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3337560"/>
            <a:ext cx="7589520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400" b="0">
                <a:solidFill>
                  <a:srgbClr val="212B35"/>
                </a:solidFill>
                <a:latin typeface="Calibri"/>
              </a:rPr>
              <a:t>•  Key limitation: heavy reliance on IFM memory and accuracy. Errors in mentee_id and inconsistent phone numbers limited reliability as a unique identifier.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366760" y="1234440"/>
            <a:ext cx="3291840" cy="4572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366760" y="1234440"/>
            <a:ext cx="91440" cy="4572000"/>
          </a:xfrm>
          <a:prstGeom prst="rect">
            <a:avLst/>
          </a:prstGeom>
          <a:solidFill>
            <a:srgbClr val="FD4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0" y="1463040"/>
            <a:ext cx="2788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D4F00"/>
                </a:solidFill>
                <a:latin typeface="Calibri"/>
              </a:rPr>
              <a:t>Limitation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0" y="1965960"/>
            <a:ext cx="278892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300" b="0">
                <a:solidFill>
                  <a:srgbClr val="212B35"/>
                </a:solidFill>
                <a:latin typeface="Calibri"/>
              </a:rPr>
              <a:t>•  Manual entry of names &amp; phone numbers.</a:t>
            </a:r>
          </a:p>
          <a:p>
            <a:pPr algn="l">
              <a:spcBef>
                <a:spcPts val="600"/>
              </a:spcBef>
              <a:spcAft>
                <a:spcPts val="200"/>
              </a:spcAft>
            </a:pPr>
            <a:r>
              <a:rPr sz="1300" b="0">
                <a:solidFill>
                  <a:srgbClr val="212B35"/>
                </a:solidFill>
                <a:latin typeface="Calibri"/>
              </a:rPr>
              <a:t>•  Duplicate / mistyped mentee_ids.</a:t>
            </a:r>
          </a:p>
          <a:p>
            <a:pPr algn="l">
              <a:spcBef>
                <a:spcPts val="600"/>
              </a:spcBef>
              <a:spcAft>
                <a:spcPts val="200"/>
              </a:spcAft>
            </a:pPr>
            <a:r>
              <a:rPr sz="1300" b="0">
                <a:solidFill>
                  <a:srgbClr val="212B35"/>
                </a:solidFill>
                <a:latin typeface="Calibri"/>
              </a:rPr>
              <a:t>•  Phone number unreliable as unique ID.</a:t>
            </a:r>
          </a:p>
          <a:p>
            <a:pPr algn="l">
              <a:spcBef>
                <a:spcPts val="600"/>
              </a:spcBef>
              <a:spcAft>
                <a:spcPts val="200"/>
              </a:spcAft>
            </a:pPr>
            <a:r>
              <a:rPr sz="1300" b="0">
                <a:solidFill>
                  <a:srgbClr val="212B35"/>
                </a:solidFill>
                <a:latin typeface="Calibri"/>
              </a:rPr>
              <a:t>•  Data quality depended on IFM recall.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FD4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612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565392"/>
            <a:ext cx="7315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A5ACBA"/>
                </a:solidFill>
                <a:latin typeface="Calibri"/>
              </a:rPr>
              <a:t>Mentee Mapping SOP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41280" y="6565392"/>
            <a:ext cx="14630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A5ACBA"/>
                </a:solidFill>
                <a:latin typeface="Calibri"/>
              </a:rPr>
              <a:t>5  /  14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256032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D4F00"/>
                </a:solidFill>
                <a:latin typeface="Calibri"/>
              </a:rPr>
              <a:t>APPROACH 03  ·  Current state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438912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06121B"/>
                </a:solidFill>
                <a:latin typeface="Calibri"/>
              </a:rPr>
              <a:t>PO-led Mentee Mapping Approach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1143000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400" b="0">
                <a:solidFill>
                  <a:srgbClr val="212B35"/>
                </a:solidFill>
                <a:latin typeface="Calibri"/>
              </a:rPr>
              <a:t>•  POs visit facilities and map HCWs eligible for the MENTORS Program.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80136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400" b="0">
                <a:solidFill>
                  <a:srgbClr val="212B35"/>
                </a:solidFill>
                <a:latin typeface="Calibri"/>
              </a:rPr>
              <a:t>•  Mapped mentee data is used to preload mentee details on Kobo before data collection.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2459736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400" b="0">
                <a:solidFill>
                  <a:srgbClr val="212B35"/>
                </a:solidFill>
                <a:latin typeface="Calibri"/>
              </a:rPr>
              <a:t>•  Immensely improved mentorship data quality — phone number (mentee_id) became a reliable unique identifier.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3118104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400" b="0">
                <a:solidFill>
                  <a:srgbClr val="212B35"/>
                </a:solidFill>
                <a:latin typeface="Calibri"/>
              </a:rPr>
              <a:t>•  Hybrid program need: WhatsApp numbers now collected to supplement mentee_id, linking in-person mentorship to virtual DELTA.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3776472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400" b="0">
                <a:solidFill>
                  <a:srgbClr val="212B35"/>
                </a:solidFill>
                <a:latin typeface="Calibri"/>
              </a:rPr>
              <a:t>•  Vision: a mentee can complete the curriculum entirely in-person, or take some modules virtually via DELTA (hybrid).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" y="5349240"/>
            <a:ext cx="11155680" cy="868680"/>
          </a:xfrm>
          <a:prstGeom prst="roundRect">
            <a:avLst>
              <a:gd name="adj" fmla="val 8000"/>
            </a:avLst>
          </a:prstGeom>
          <a:solidFill>
            <a:srgbClr val="FFEE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31520" y="5532120"/>
            <a:ext cx="10698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06121B"/>
                </a:solidFill>
                <a:latin typeface="Calibri"/>
              </a:rPr>
              <a:t>Impact: Preloading mentee details on Kobo significantly increased the reliability of mentee_id and overall data quality.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FD4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612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565392"/>
            <a:ext cx="7315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A5ACBA"/>
                </a:solidFill>
                <a:latin typeface="Calibri"/>
              </a:rPr>
              <a:t>Mentee Mapping SOP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41280" y="6565392"/>
            <a:ext cx="14630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A5ACBA"/>
                </a:solidFill>
                <a:latin typeface="Calibri"/>
              </a:rPr>
              <a:t>6  /  14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320040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06121B"/>
                </a:solidFill>
                <a:latin typeface="Calibri"/>
              </a:rPr>
              <a:t>What was the problem?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777240"/>
            <a:ext cx="11155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F6D7E"/>
                </a:solidFill>
                <a:latin typeface="Calibri"/>
              </a:rPr>
              <a:t>Why automation became necessary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325880"/>
            <a:ext cx="5440680" cy="19659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02920" y="1325880"/>
            <a:ext cx="91440" cy="1965960"/>
          </a:xfrm>
          <a:prstGeom prst="rect">
            <a:avLst/>
          </a:prstGeom>
          <a:solidFill>
            <a:srgbClr val="FD4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1645920"/>
            <a:ext cx="4846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06121B"/>
                </a:solidFill>
                <a:latin typeface="Calibri"/>
              </a:rPr>
              <a:t>Mentee-level tracking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2194560"/>
            <a:ext cx="48463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F6D7E"/>
                </a:solidFill>
                <a:latin typeface="Calibri"/>
              </a:rPr>
              <a:t>Need to track mentorship at the mentee level — not only at facility level.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63640" y="1325880"/>
            <a:ext cx="5440680" cy="19659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263640" y="1325880"/>
            <a:ext cx="91440" cy="1965960"/>
          </a:xfrm>
          <a:prstGeom prst="rect">
            <a:avLst/>
          </a:prstGeom>
          <a:solidFill>
            <a:srgbClr val="FD4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0" y="1645920"/>
            <a:ext cx="4846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06121B"/>
                </a:solidFill>
                <a:latin typeface="Calibri"/>
              </a:rPr>
              <a:t>Field data errors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3680" y="2194560"/>
            <a:ext cx="48463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F6D7E"/>
                </a:solidFill>
                <a:latin typeface="Calibri"/>
              </a:rPr>
              <a:t>Inaccurate mentee data entered by IFMs during data collection in the field.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3657600"/>
            <a:ext cx="5440680" cy="19659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02920" y="3657600"/>
            <a:ext cx="91440" cy="1965960"/>
          </a:xfrm>
          <a:prstGeom prst="rect">
            <a:avLst/>
          </a:prstGeom>
          <a:solidFill>
            <a:srgbClr val="FD4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3977640"/>
            <a:ext cx="4846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06121B"/>
                </a:solidFill>
                <a:latin typeface="Calibri"/>
              </a:rPr>
              <a:t>Manual preloading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4526280"/>
            <a:ext cx="48463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F6D7E"/>
                </a:solidFill>
                <a:latin typeface="Calibri"/>
              </a:rPr>
              <a:t>Preloading mentee details into Kobo improved quality, but remained manual and error-prone.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63640" y="3657600"/>
            <a:ext cx="5440680" cy="19659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263640" y="3657600"/>
            <a:ext cx="91440" cy="1965960"/>
          </a:xfrm>
          <a:prstGeom prst="rect">
            <a:avLst/>
          </a:prstGeom>
          <a:solidFill>
            <a:srgbClr val="FD4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83680" y="3977640"/>
            <a:ext cx="4846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06121B"/>
                </a:solidFill>
                <a:latin typeface="Calibri"/>
              </a:rPr>
              <a:t>Painful updates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83680" y="4526280"/>
            <a:ext cx="48463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F6D7E"/>
                </a:solidFill>
                <a:latin typeface="Calibri"/>
              </a:rPr>
              <a:t>Mentee attrition is expected; keeping Kobo Tools up to date was a painful, ongoing process.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FD4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612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565392"/>
            <a:ext cx="7315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A5ACBA"/>
                </a:solidFill>
                <a:latin typeface="Calibri"/>
              </a:rPr>
              <a:t>Mentee Mapping SOP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41280" y="6565392"/>
            <a:ext cx="14630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A5ACBA"/>
                </a:solidFill>
                <a:latin typeface="Calibri"/>
              </a:rPr>
              <a:t>7  /  14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320040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06121B"/>
                </a:solidFill>
                <a:latin typeface="Calibri"/>
              </a:rPr>
              <a:t>Kobo Tool Update Process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777240"/>
            <a:ext cx="11155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F6D7E"/>
                </a:solidFill>
                <a:latin typeface="Calibri"/>
              </a:rPr>
              <a:t>Five steps from database sync to deployed forms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188720"/>
            <a:ext cx="11155680" cy="84124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31520" y="1371600"/>
            <a:ext cx="475488" cy="475488"/>
          </a:xfrm>
          <a:prstGeom prst="ellipse">
            <a:avLst/>
          </a:prstGeom>
          <a:solidFill>
            <a:srgbClr val="FD4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1481328"/>
            <a:ext cx="47548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01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63040" y="1353312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06121B"/>
                </a:solidFill>
                <a:latin typeface="Calibri"/>
              </a:rPr>
              <a:t>Sync Databases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63040" y="1645920"/>
            <a:ext cx="9601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F6D7E"/>
                </a:solidFill>
                <a:latin typeface="Calibri"/>
              </a:rPr>
              <a:t>Mentee &amp; IFM databases synced, cleaned, and filtered for valid records.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" y="2148840"/>
            <a:ext cx="11155680" cy="84124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731520" y="2331720"/>
            <a:ext cx="475488" cy="475488"/>
          </a:xfrm>
          <a:prstGeom prst="ellipse">
            <a:avLst/>
          </a:prstGeom>
          <a:solidFill>
            <a:srgbClr val="7478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1520" y="2441448"/>
            <a:ext cx="47548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02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463040" y="2313432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06121B"/>
                </a:solidFill>
                <a:latin typeface="Calibri"/>
              </a:rPr>
              <a:t>Building Blocks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63040" y="2606040"/>
            <a:ext cx="9601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F6D7E"/>
                </a:solidFill>
                <a:latin typeface="Calibri"/>
              </a:rPr>
              <a:t>Reusable intermediate sheets: types, names, labels, relevance, calculations, choices.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2920" y="3108960"/>
            <a:ext cx="11155680" cy="84124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731520" y="3291840"/>
            <a:ext cx="475488" cy="475488"/>
          </a:xfrm>
          <a:prstGeom prst="ellipse">
            <a:avLst/>
          </a:prstGeom>
          <a:solidFill>
            <a:srgbClr val="FD4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31520" y="3401568"/>
            <a:ext cx="47548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03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63040" y="3273552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06121B"/>
                </a:solidFill>
                <a:latin typeface="Calibri"/>
              </a:rPr>
              <a:t>Form Builders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463040" y="3566160"/>
            <a:ext cx="9601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F6D7E"/>
                </a:solidFill>
                <a:latin typeface="Calibri"/>
              </a:rPr>
              <a:t>Assemble XLSForm-ready survey, choice, and settings sheets.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02920" y="4069080"/>
            <a:ext cx="11155680" cy="84124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731520" y="4251960"/>
            <a:ext cx="475488" cy="475488"/>
          </a:xfrm>
          <a:prstGeom prst="ellipse">
            <a:avLst/>
          </a:prstGeom>
          <a:solidFill>
            <a:srgbClr val="7478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31520" y="4361688"/>
            <a:ext cx="47548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04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463040" y="4233672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06121B"/>
                </a:solidFill>
                <a:latin typeface="Calibri"/>
              </a:rPr>
              <a:t>Validation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463040" y="4526280"/>
            <a:ext cx="9601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F6D7E"/>
                </a:solidFill>
                <a:latin typeface="Calibri"/>
              </a:rPr>
              <a:t>Confirm builders are complete, filtered, and logically consistent.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02920" y="5029200"/>
            <a:ext cx="11155680" cy="84124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731520" y="5212080"/>
            <a:ext cx="475488" cy="475488"/>
          </a:xfrm>
          <a:prstGeom prst="ellipse">
            <a:avLst/>
          </a:prstGeom>
          <a:solidFill>
            <a:srgbClr val="FD4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31520" y="5321808"/>
            <a:ext cx="47548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05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463040" y="5193792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06121B"/>
                </a:solidFill>
                <a:latin typeface="Calibri"/>
              </a:rPr>
              <a:t>Deployment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463040" y="5486400"/>
            <a:ext cx="9601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F6D7E"/>
                </a:solidFill>
                <a:latin typeface="Calibri"/>
              </a:rPr>
              <a:t>Upload validated builders and update form versions in KoboToolbox.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FD4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612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565392"/>
            <a:ext cx="7315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A5ACBA"/>
                </a:solidFill>
                <a:latin typeface="Calibri"/>
              </a:rPr>
              <a:t>Mentee Mapping SOP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41280" y="6565392"/>
            <a:ext cx="14630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A5ACBA"/>
                </a:solidFill>
                <a:latin typeface="Calibri"/>
              </a:rPr>
              <a:t>8  /  14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256032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D4F00"/>
                </a:solidFill>
                <a:latin typeface="Calibri"/>
              </a:rPr>
              <a:t>STEP 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438912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06121B"/>
                </a:solidFill>
                <a:latin typeface="Calibri"/>
              </a:rPr>
              <a:t>Syncing of Mentor-Mentee Database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143000"/>
            <a:ext cx="11155680" cy="80467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02920" y="1143000"/>
            <a:ext cx="91440" cy="804672"/>
          </a:xfrm>
          <a:prstGeom prst="rect">
            <a:avLst/>
          </a:prstGeom>
          <a:solidFill>
            <a:srgbClr val="FD4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1252728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6121B"/>
                </a:solidFill>
                <a:latin typeface="Calibri"/>
              </a:rPr>
              <a:t>Pull latest records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155448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F6D7E"/>
                </a:solidFill>
                <a:latin typeface="Calibri"/>
              </a:rPr>
              <a:t>Bring the newest mentee and IFM records into the spreadsheet.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2057400"/>
            <a:ext cx="11155680" cy="80467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02920" y="2057400"/>
            <a:ext cx="91440" cy="804672"/>
          </a:xfrm>
          <a:prstGeom prst="rect">
            <a:avLst/>
          </a:prstGeom>
          <a:solidFill>
            <a:srgbClr val="7478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2167128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6121B"/>
                </a:solidFill>
                <a:latin typeface="Calibri"/>
              </a:rPr>
              <a:t>Clean for Kobo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60" y="246888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F6D7E"/>
                </a:solidFill>
                <a:latin typeface="Calibri"/>
              </a:rPr>
              <a:t>Clean names, IDs, counties, and facilities for Kobo compatibility.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2971800"/>
            <a:ext cx="11155680" cy="80467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02920" y="2971800"/>
            <a:ext cx="91440" cy="804672"/>
          </a:xfrm>
          <a:prstGeom prst="rect">
            <a:avLst/>
          </a:prstGeom>
          <a:solidFill>
            <a:srgbClr val="FD4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3081528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6121B"/>
                </a:solidFill>
                <a:latin typeface="Calibri"/>
              </a:rPr>
              <a:t>Normalize values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338328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F6D7E"/>
                </a:solidFill>
                <a:latin typeface="Calibri"/>
              </a:rPr>
              <a:t>Normalize status (Active / Inactive) and program (MENTORS, Newborn, Both).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02920" y="3886200"/>
            <a:ext cx="11155680" cy="80467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02920" y="3886200"/>
            <a:ext cx="91440" cy="804672"/>
          </a:xfrm>
          <a:prstGeom prst="rect">
            <a:avLst/>
          </a:prstGeom>
          <a:solidFill>
            <a:srgbClr val="7478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2960" y="3995928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6121B"/>
                </a:solidFill>
                <a:latin typeface="Calibri"/>
              </a:rPr>
              <a:t>Drop incomplete rows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2960" y="429768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F6D7E"/>
                </a:solidFill>
                <a:latin typeface="Calibri"/>
              </a:rPr>
              <a:t>Remove rows missing ID, name, county, facility, or facility code.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02920" y="4800600"/>
            <a:ext cx="11155680" cy="80467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02920" y="4800600"/>
            <a:ext cx="91440" cy="804672"/>
          </a:xfrm>
          <a:prstGeom prst="rect">
            <a:avLst/>
          </a:prstGeom>
          <a:solidFill>
            <a:srgbClr val="FD4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2960" y="4910328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6121B"/>
                </a:solidFill>
                <a:latin typeface="Calibri"/>
              </a:rPr>
              <a:t>Deduplicate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2960" y="521208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F6D7E"/>
                </a:solidFill>
                <a:latin typeface="Calibri"/>
              </a:rPr>
              <a:t>Deduplicate facility–program–status combinations before any sheet is built.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FD4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612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565392"/>
            <a:ext cx="7315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A5ACBA"/>
                </a:solidFill>
                <a:latin typeface="Calibri"/>
              </a:rPr>
              <a:t>Mentee Mapping SOP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41280" y="6565392"/>
            <a:ext cx="14630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A5ACBA"/>
                </a:solidFill>
                <a:latin typeface="Calibri"/>
              </a:rPr>
              <a:t>9  /  14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256032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D4F00"/>
                </a:solidFill>
                <a:latin typeface="Calibri"/>
              </a:rPr>
              <a:t>STEP 02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438912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06121B"/>
                </a:solidFill>
                <a:latin typeface="Calibri"/>
              </a:rPr>
              <a:t>Constructing Kobo Building Blocks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188720"/>
            <a:ext cx="3611880" cy="49377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02920" y="1188720"/>
            <a:ext cx="3611880" cy="640080"/>
          </a:xfrm>
          <a:prstGeom prst="rect">
            <a:avLst/>
          </a:prstGeom>
          <a:solidFill>
            <a:srgbClr val="FD4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1325880"/>
            <a:ext cx="3154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Calibri"/>
              </a:rPr>
              <a:t>Survey sheets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2057400"/>
            <a:ext cx="315468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300" b="0">
                <a:solidFill>
                  <a:srgbClr val="212B35"/>
                </a:solidFill>
                <a:latin typeface="Calibri"/>
              </a:rPr>
              <a:t>•  type, name, label, hint</a:t>
            </a:r>
          </a:p>
          <a:p>
            <a:pPr algn="l">
              <a:spcBef>
                <a:spcPts val="600"/>
              </a:spcBef>
              <a:spcAft>
                <a:spcPts val="200"/>
              </a:spcAft>
            </a:pPr>
            <a:r>
              <a:rPr sz="1300" b="0">
                <a:solidFill>
                  <a:srgbClr val="212B35"/>
                </a:solidFill>
                <a:latin typeface="Calibri"/>
              </a:rPr>
              <a:t>•  required &amp; required_message</a:t>
            </a:r>
          </a:p>
          <a:p>
            <a:pPr algn="l">
              <a:spcBef>
                <a:spcPts val="600"/>
              </a:spcBef>
              <a:spcAft>
                <a:spcPts val="200"/>
              </a:spcAft>
            </a:pPr>
            <a:r>
              <a:rPr sz="1300" b="0">
                <a:solidFill>
                  <a:srgbClr val="212B35"/>
                </a:solidFill>
                <a:latin typeface="Calibri"/>
              </a:rPr>
              <a:t>•  constraint &amp; constraint_message</a:t>
            </a:r>
          </a:p>
          <a:p>
            <a:pPr algn="l">
              <a:spcBef>
                <a:spcPts val="600"/>
              </a:spcBef>
              <a:spcAft>
                <a:spcPts val="200"/>
              </a:spcAft>
            </a:pPr>
            <a:r>
              <a:rPr sz="1300" b="0">
                <a:solidFill>
                  <a:srgbClr val="212B35"/>
                </a:solidFill>
                <a:latin typeface="Calibri"/>
              </a:rPr>
              <a:t>•  relevant / skip logic</a:t>
            </a:r>
          </a:p>
          <a:p>
            <a:pPr algn="l">
              <a:spcBef>
                <a:spcPts val="600"/>
              </a:spcBef>
              <a:spcAft>
                <a:spcPts val="200"/>
              </a:spcAft>
            </a:pPr>
            <a:r>
              <a:rPr sz="1300" b="0">
                <a:solidFill>
                  <a:srgbClr val="212B35"/>
                </a:solidFill>
                <a:latin typeface="Calibri"/>
              </a:rPr>
              <a:t>•  choice_filter &amp; calculation</a:t>
            </a:r>
          </a:p>
          <a:p>
            <a:pPr algn="l">
              <a:spcBef>
                <a:spcPts val="600"/>
              </a:spcBef>
              <a:spcAft>
                <a:spcPts val="200"/>
              </a:spcAft>
            </a:pPr>
            <a:r>
              <a:rPr sz="1300" b="0">
                <a:solidFill>
                  <a:srgbClr val="212B35"/>
                </a:solidFill>
                <a:latin typeface="Calibri"/>
              </a:rPr>
              <a:t>•  appearance (e.g. tables)</a:t>
            </a:r>
          </a:p>
          <a:p>
            <a:pPr algn="l">
              <a:spcBef>
                <a:spcPts val="600"/>
              </a:spcBef>
              <a:spcAft>
                <a:spcPts val="200"/>
              </a:spcAft>
            </a:pPr>
            <a:r>
              <a:rPr sz="1300" b="0">
                <a:solidFill>
                  <a:srgbClr val="212B35"/>
                </a:solidFill>
                <a:latin typeface="Calibri"/>
              </a:rPr>
              <a:t>•  enumerator notes / parameters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43400" y="1188720"/>
            <a:ext cx="3611880" cy="49377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343400" y="1188720"/>
            <a:ext cx="3611880" cy="640080"/>
          </a:xfrm>
          <a:prstGeom prst="rect">
            <a:avLst/>
          </a:prstGeom>
          <a:solidFill>
            <a:srgbClr val="7478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2000" y="1325880"/>
            <a:ext cx="3154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Calibri"/>
              </a:rPr>
              <a:t>Choice sheets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0" y="2057400"/>
            <a:ext cx="315468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300" b="0">
                <a:solidFill>
                  <a:srgbClr val="212B35"/>
                </a:solidFill>
                <a:latin typeface="Calibri"/>
              </a:rPr>
              <a:t>•  list_name</a:t>
            </a:r>
          </a:p>
          <a:p>
            <a:pPr algn="l">
              <a:spcBef>
                <a:spcPts val="600"/>
              </a:spcBef>
              <a:spcAft>
                <a:spcPts val="200"/>
              </a:spcAft>
            </a:pPr>
            <a:r>
              <a:rPr sz="1300" b="0">
                <a:solidFill>
                  <a:srgbClr val="212B35"/>
                </a:solidFill>
                <a:latin typeface="Calibri"/>
              </a:rPr>
              <a:t>•  name</a:t>
            </a:r>
          </a:p>
          <a:p>
            <a:pPr algn="l">
              <a:spcBef>
                <a:spcPts val="600"/>
              </a:spcBef>
              <a:spcAft>
                <a:spcPts val="200"/>
              </a:spcAft>
            </a:pPr>
            <a:r>
              <a:rPr sz="1300" b="0">
                <a:solidFill>
                  <a:srgbClr val="212B35"/>
                </a:solidFill>
                <a:latin typeface="Calibri"/>
              </a:rPr>
              <a:t>•  label</a:t>
            </a:r>
          </a:p>
          <a:p>
            <a:pPr algn="l">
              <a:spcBef>
                <a:spcPts val="600"/>
              </a:spcBef>
              <a:spcAft>
                <a:spcPts val="200"/>
              </a:spcAft>
            </a:pPr>
            <a:r>
              <a:rPr sz="1300" b="0">
                <a:solidFill>
                  <a:srgbClr val="212B35"/>
                </a:solidFill>
                <a:latin typeface="Calibri"/>
              </a:rPr>
              <a:t>•  choice_filter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183880" y="1188720"/>
            <a:ext cx="3611880" cy="49377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183880" y="1188720"/>
            <a:ext cx="3611880" cy="640080"/>
          </a:xfrm>
          <a:prstGeom prst="rect">
            <a:avLst/>
          </a:prstGeom>
          <a:solidFill>
            <a:srgbClr val="2E35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412480" y="1325880"/>
            <a:ext cx="3154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Calibri"/>
              </a:rPr>
              <a:t>Settings sheets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12480" y="2057400"/>
            <a:ext cx="315468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300" b="0">
                <a:solidFill>
                  <a:srgbClr val="212B35"/>
                </a:solidFill>
                <a:latin typeface="Calibri"/>
              </a:rPr>
              <a:t>•  allow_choice_duplicates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FD4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612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565392"/>
            <a:ext cx="7315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A5ACBA"/>
                </a:solidFill>
                <a:latin typeface="Calibri"/>
              </a:rPr>
              <a:t>Mentee Mapping SOP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41280" y="6565392"/>
            <a:ext cx="14630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A5ACBA"/>
                </a:solidFill>
                <a:latin typeface="Calibri"/>
              </a:rPr>
              <a:t>10  /  14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256032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D4F00"/>
                </a:solidFill>
                <a:latin typeface="Calibri"/>
              </a:rPr>
              <a:t>STEP 03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438912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06121B"/>
                </a:solidFill>
                <a:latin typeface="Calibri"/>
              </a:rPr>
              <a:t>Construction of Kobo Tool Form Builders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896112"/>
            <a:ext cx="11155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F6D7E"/>
                </a:solidFill>
                <a:latin typeface="Calibri"/>
              </a:rPr>
              <a:t>Assemble XLSForm-ready survey, choice, and settings sheets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1828800"/>
            <a:ext cx="2103120" cy="34747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188720" y="2286000"/>
            <a:ext cx="731520" cy="731520"/>
          </a:xfrm>
          <a:prstGeom prst="ellipse">
            <a:avLst/>
          </a:prstGeom>
          <a:solidFill>
            <a:srgbClr val="FD4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88720" y="2487168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01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3291840"/>
            <a:ext cx="18288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06121B"/>
                </a:solidFill>
                <a:latin typeface="Calibri"/>
              </a:rPr>
              <a:t>EmONC Curriculum
Tracking Form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788920" y="1828800"/>
            <a:ext cx="2103120" cy="34747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3474720" y="2286000"/>
            <a:ext cx="731520" cy="731520"/>
          </a:xfrm>
          <a:prstGeom prst="ellipse">
            <a:avLst/>
          </a:prstGeom>
          <a:solidFill>
            <a:srgbClr val="7478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474720" y="2487168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02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926080" y="3291840"/>
            <a:ext cx="18288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06121B"/>
                </a:solidFill>
                <a:latin typeface="Calibri"/>
              </a:rPr>
              <a:t>Newborn Curriculum
Tracking Form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74920" y="1828800"/>
            <a:ext cx="2103120" cy="34747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5760720" y="2286000"/>
            <a:ext cx="731520" cy="731520"/>
          </a:xfrm>
          <a:prstGeom prst="ellipse">
            <a:avLst/>
          </a:prstGeom>
          <a:solidFill>
            <a:srgbClr val="FD4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760720" y="2487168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212080" y="3291840"/>
            <a:ext cx="18288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06121B"/>
                </a:solidFill>
                <a:latin typeface="Calibri"/>
              </a:rPr>
              <a:t>MoH Skills
Assessment Checklist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360920" y="1828800"/>
            <a:ext cx="2103120" cy="34747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8046720" y="2286000"/>
            <a:ext cx="731520" cy="731520"/>
          </a:xfrm>
          <a:prstGeom prst="ellipse">
            <a:avLst/>
          </a:prstGeom>
          <a:solidFill>
            <a:srgbClr val="7478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046720" y="2487168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04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498080" y="3291840"/>
            <a:ext cx="18288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06121B"/>
                </a:solidFill>
                <a:latin typeface="Calibri"/>
              </a:rPr>
              <a:t>EmONC Knowledge
Assessment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646920" y="1828800"/>
            <a:ext cx="2103120" cy="34747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10332720" y="2286000"/>
            <a:ext cx="731520" cy="731520"/>
          </a:xfrm>
          <a:prstGeom prst="ellipse">
            <a:avLst/>
          </a:prstGeom>
          <a:solidFill>
            <a:srgbClr val="FD4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332720" y="2487168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05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784080" y="3291840"/>
            <a:ext cx="18288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06121B"/>
                </a:solidFill>
                <a:latin typeface="Calibri"/>
              </a:rPr>
              <a:t>Newborn Knowledge
Assessment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02920" y="5623560"/>
            <a:ext cx="11155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F6D7E"/>
                </a:solidFill>
                <a:latin typeface="Calibri"/>
              </a:rPr>
              <a:t>Each builder is generated from the shared building blocks — ensuring consistent field logic across all tools.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FD4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612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565392"/>
            <a:ext cx="7315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A5ACBA"/>
                </a:solidFill>
                <a:latin typeface="Calibri"/>
              </a:rPr>
              <a:t>Mentee Mapping SOP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41280" y="6565392"/>
            <a:ext cx="14630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A5ACBA"/>
                </a:solidFill>
                <a:latin typeface="Calibri"/>
              </a:rPr>
              <a:t>11  /  14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256032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D4F00"/>
                </a:solidFill>
                <a:latin typeface="Calibri"/>
              </a:rPr>
              <a:t>STEP 04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438912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06121B"/>
                </a:solidFill>
                <a:latin typeface="Calibri"/>
              </a:rPr>
              <a:t>Validation of Kobo Form Builders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097280"/>
            <a:ext cx="11155680" cy="62179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685800" y="1207008"/>
            <a:ext cx="402336" cy="402336"/>
          </a:xfrm>
          <a:prstGeom prst="ellipse">
            <a:avLst/>
          </a:prstGeom>
          <a:solidFill>
            <a:srgbClr val="FD4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1280160"/>
            <a:ext cx="402336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01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25880" y="1261872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12B35"/>
                </a:solidFill>
                <a:latin typeface="Calibri"/>
              </a:rPr>
              <a:t>Confirm only Active (and correctly programmed) records appear in mentee / survey builders.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1810512"/>
            <a:ext cx="11155680" cy="62179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85800" y="1920240"/>
            <a:ext cx="402336" cy="402336"/>
          </a:xfrm>
          <a:prstGeom prst="ellipse">
            <a:avLst/>
          </a:prstGeom>
          <a:solidFill>
            <a:srgbClr val="7478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1993392"/>
            <a:ext cx="402336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25880" y="1975104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12B35"/>
                </a:solidFill>
                <a:latin typeface="Calibri"/>
              </a:rPr>
              <a:t>Spot-check relevance / skip logic against field names.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2523744"/>
            <a:ext cx="11155680" cy="62179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85800" y="2633472"/>
            <a:ext cx="402336" cy="402336"/>
          </a:xfrm>
          <a:prstGeom prst="ellipse">
            <a:avLst/>
          </a:prstGeom>
          <a:solidFill>
            <a:srgbClr val="FD4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2706624"/>
            <a:ext cx="402336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03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25880" y="2688336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12B35"/>
                </a:solidFill>
                <a:latin typeface="Calibri"/>
              </a:rPr>
              <a:t>Verify choice fields match survey sheet fields (select_one / select_multiple).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02920" y="3236976"/>
            <a:ext cx="11155680" cy="62179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685800" y="3346704"/>
            <a:ext cx="402336" cy="402336"/>
          </a:xfrm>
          <a:prstGeom prst="ellipse">
            <a:avLst/>
          </a:prstGeom>
          <a:solidFill>
            <a:srgbClr val="7478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" y="3419856"/>
            <a:ext cx="402336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04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25880" y="3401568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12B35"/>
                </a:solidFill>
                <a:latin typeface="Calibri"/>
              </a:rPr>
              <a:t>Review required fields and choice-filter logic for functionality and errors.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02920" y="3950208"/>
            <a:ext cx="11155680" cy="62179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685800" y="4059936"/>
            <a:ext cx="402336" cy="402336"/>
          </a:xfrm>
          <a:prstGeom prst="ellipse">
            <a:avLst/>
          </a:prstGeom>
          <a:solidFill>
            <a:srgbClr val="FD4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5800" y="4133088"/>
            <a:ext cx="402336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05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25880" y="41148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12B35"/>
                </a:solidFill>
                <a:latin typeface="Calibri"/>
              </a:rPr>
              <a:t>Review required messages, notes, and hints on survey sheets.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02920" y="4663440"/>
            <a:ext cx="11155680" cy="62179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685800" y="4773168"/>
            <a:ext cx="402336" cy="402336"/>
          </a:xfrm>
          <a:prstGeom prst="ellipse">
            <a:avLst/>
          </a:prstGeom>
          <a:solidFill>
            <a:srgbClr val="7478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85800" y="4846320"/>
            <a:ext cx="402336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06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325880" y="4828032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12B35"/>
                </a:solidFill>
                <a:latin typeface="Calibri"/>
              </a:rPr>
              <a:t>Review hide logic — sections appear only after required fields are filled.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502920" y="5376672"/>
            <a:ext cx="11155680" cy="62179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685800" y="5486400"/>
            <a:ext cx="402336" cy="402336"/>
          </a:xfrm>
          <a:prstGeom prst="ellipse">
            <a:avLst/>
          </a:prstGeom>
          <a:solidFill>
            <a:srgbClr val="FD4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85800" y="5559552"/>
            <a:ext cx="402336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07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325880" y="5541264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12B35"/>
                </a:solidFill>
                <a:latin typeface="Calibri"/>
              </a:rPr>
              <a:t>Confirm no duplicate facility fields, mentees, or IFMs in choice sheets.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FD4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612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565392"/>
            <a:ext cx="7315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A5ACBA"/>
                </a:solidFill>
                <a:latin typeface="Calibri"/>
              </a:rPr>
              <a:t>Mentee Mapping SOP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41280" y="6565392"/>
            <a:ext cx="14630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A5ACBA"/>
                </a:solidFill>
                <a:latin typeface="Calibri"/>
              </a:rPr>
              <a:t>12  /  14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228600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06121B"/>
                </a:solidFill>
                <a:latin typeface="Calibri"/>
              </a:rPr>
              <a:t>Why a mentee / mentor / facility may be missing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85800"/>
            <a:ext cx="11155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F6D7E"/>
                </a:solidFill>
                <a:latin typeface="Calibri"/>
              </a:rPr>
              <a:t>Common exclusion reasons when generating Kobo tools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11480" y="1097280"/>
            <a:ext cx="3703320" cy="50749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11480" y="1097280"/>
            <a:ext cx="3703320" cy="502920"/>
          </a:xfrm>
          <a:prstGeom prst="rect">
            <a:avLst/>
          </a:prstGeom>
          <a:solidFill>
            <a:srgbClr val="FD4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1207008"/>
            <a:ext cx="3337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Calibri"/>
              </a:rPr>
              <a:t>Mentee identity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1783080"/>
            <a:ext cx="3337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6121B"/>
                </a:solidFill>
                <a:latin typeface="Calibri"/>
              </a:rPr>
              <a:t>Invalid mentee_id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" y="2148840"/>
            <a:ext cx="33375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F6D7E"/>
                </a:solidFill>
                <a:latin typeface="Calibri"/>
              </a:rPr>
              <a:t>Missing, wrong format (2547… / 07…), spaces, &lt;9 digits, or not starting with 1 or 7.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360" y="3154680"/>
            <a:ext cx="3337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6121B"/>
                </a:solidFill>
                <a:latin typeface="Calibri"/>
              </a:rPr>
              <a:t>Inactive mentees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" y="3520440"/>
            <a:ext cx="33375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F6D7E"/>
                </a:solidFill>
                <a:latin typeface="Calibri"/>
              </a:rPr>
              <a:t>Status is Inactive or blank, or date_activated is blank.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4526280"/>
            <a:ext cx="3337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6121B"/>
                </a:solidFill>
                <a:latin typeface="Calibri"/>
              </a:rPr>
              <a:t>Missing from source DBs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4360" y="4892040"/>
            <a:ext cx="33375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F6D7E"/>
                </a:solidFill>
                <a:latin typeface="Calibri"/>
              </a:rPr>
              <a:t>Mentee or facility absent from Mentee Database or IFM Database.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297680" y="1097280"/>
            <a:ext cx="3703320" cy="50749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297680" y="1097280"/>
            <a:ext cx="3703320" cy="502920"/>
          </a:xfrm>
          <a:prstGeom prst="rect">
            <a:avLst/>
          </a:prstGeom>
          <a:solidFill>
            <a:srgbClr val="7478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480560" y="1207008"/>
            <a:ext cx="3337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Calibri"/>
              </a:rPr>
              <a:t>Program flags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480560" y="1783080"/>
            <a:ext cx="3337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6121B"/>
                </a:solidFill>
                <a:latin typeface="Calibri"/>
              </a:rPr>
              <a:t>Wrong Program value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480560" y="2148840"/>
            <a:ext cx="33375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F6D7E"/>
                </a:solidFill>
                <a:latin typeface="Calibri"/>
              </a:rPr>
              <a:t>e.g. Newborn when they should be EmONC or Both.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80560" y="3154680"/>
            <a:ext cx="3337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6121B"/>
                </a:solidFill>
                <a:latin typeface="Calibri"/>
              </a:rPr>
              <a:t>EmONC In-person = No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480560" y="3520440"/>
            <a:ext cx="33375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F6D7E"/>
                </a:solidFill>
                <a:latin typeface="Calibri"/>
              </a:rPr>
              <a:t>EmONC mentee flagged as not doing in-person EmONC.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480560" y="4526280"/>
            <a:ext cx="3337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6121B"/>
                </a:solidFill>
                <a:latin typeface="Calibri"/>
              </a:rPr>
              <a:t>Newborn flags wrong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480560" y="4892040"/>
            <a:ext cx="33375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F6D7E"/>
                </a:solidFill>
                <a:latin typeface="Calibri"/>
              </a:rPr>
              <a:t>Essential &amp; Comprehensive Newborn both blank/No → allowed = Error!.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183880" y="1097280"/>
            <a:ext cx="3703320" cy="50749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8183880" y="1097280"/>
            <a:ext cx="3703320" cy="502920"/>
          </a:xfrm>
          <a:prstGeom prst="rect">
            <a:avLst/>
          </a:prstGeom>
          <a:solidFill>
            <a:srgbClr val="2E35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366760" y="1207008"/>
            <a:ext cx="3337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Calibri"/>
              </a:rPr>
              <a:t>Facility data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66760" y="1783080"/>
            <a:ext cx="3337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6121B"/>
                </a:solidFill>
                <a:latin typeface="Calibri"/>
              </a:rPr>
              <a:t>Facility name typos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366760" y="2148840"/>
            <a:ext cx="33375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F6D7E"/>
                </a:solidFill>
                <a:latin typeface="Calibri"/>
              </a:rPr>
              <a:t>Inconsistent spelling (Centre vs Center) breaks list_name / relevance.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366760" y="3154680"/>
            <a:ext cx="3337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6121B"/>
                </a:solidFill>
                <a:latin typeface="Calibri"/>
              </a:rPr>
              <a:t>Invalid Facility Code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366760" y="3520440"/>
            <a:ext cx="33375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F6D7E"/>
                </a:solidFill>
                <a:latin typeface="Calibri"/>
              </a:rPr>
              <a:t>Reused codes (e.g. two sites coded 10157) — one dropped as duplicate.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366760" y="4526280"/>
            <a:ext cx="3337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6121B"/>
                </a:solidFill>
                <a:latin typeface="Calibri"/>
              </a:rPr>
              <a:t>Code / name mismatch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366760" y="4892040"/>
            <a:ext cx="33375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F6D7E"/>
                </a:solidFill>
                <a:latin typeface="Calibri"/>
              </a:rPr>
              <a:t>Facility code blank or belonging to another site.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612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FD4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875520" y="0"/>
            <a:ext cx="2313432" cy="6858000"/>
          </a:xfrm>
          <a:prstGeom prst="rect">
            <a:avLst/>
          </a:prstGeom>
          <a:solidFill>
            <a:srgbClr val="0C1A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214884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D4F00"/>
                </a:solidFill>
                <a:latin typeface="Calibri"/>
              </a:rPr>
              <a:t>STEP 05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60604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FFFFFF"/>
                </a:solidFill>
                <a:latin typeface="Calibri"/>
              </a:rPr>
              <a:t>Deployment of Kobo Form Builder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3566160"/>
            <a:ext cx="1097280" cy="54864"/>
          </a:xfrm>
          <a:prstGeom prst="rect">
            <a:avLst/>
          </a:prstGeom>
          <a:solidFill>
            <a:srgbClr val="FD4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379476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A9AEFF"/>
                </a:solidFill>
                <a:latin typeface="Calibri"/>
              </a:rPr>
              <a:t>Upload validated builders and update form versions in KoboToolbox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60350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A5ACBA"/>
                </a:solidFill>
                <a:latin typeface="Calibri"/>
              </a:rPr>
              <a:t>13  /  14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612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FD4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875520" y="0"/>
            <a:ext cx="2313432" cy="6858000"/>
          </a:xfrm>
          <a:prstGeom prst="rect">
            <a:avLst/>
          </a:prstGeom>
          <a:solidFill>
            <a:srgbClr val="0C1A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214884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D4F00"/>
                </a:solidFill>
                <a:latin typeface="Calibri"/>
              </a:rPr>
              <a:t>LOOKING AHEAD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60604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FFFFFF"/>
                </a:solidFill>
                <a:latin typeface="Calibri"/>
              </a:rPr>
              <a:t>Mentee Mapping in Future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3566160"/>
            <a:ext cx="1097280" cy="54864"/>
          </a:xfrm>
          <a:prstGeom prst="rect">
            <a:avLst/>
          </a:prstGeom>
          <a:solidFill>
            <a:srgbClr val="FD4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379476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A9AEFF"/>
                </a:solidFill>
                <a:latin typeface="Calibri"/>
              </a:rPr>
              <a:t>IFM-led mentee mapping using a dedicated Kobo tool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60350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A5ACBA"/>
                </a:solidFill>
                <a:latin typeface="Calibri"/>
              </a:rPr>
              <a:t>14  /  14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