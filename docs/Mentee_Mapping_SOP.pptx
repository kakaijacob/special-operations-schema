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MENTORS  ·  STANDARD OPERATING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ource Serif 4"/>
                <a:ea typeface="Source Serif 4"/>
                <a:cs typeface="Source Serif 4"/>
              </a:rPr>
              <a:t>Mentee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E0DB"/>
                </a:solidFill>
                <a:latin typeface="DM Sans"/>
                <a:ea typeface="DM Sans"/>
                <a:cs typeface="DM Sans"/>
              </a:rPr>
              <a:t>From the Mentee Database to Kobo Tool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92"/>
                </a:solidFill>
                <a:latin typeface="DM Sans"/>
                <a:ea typeface="DM Sans"/>
                <a:cs typeface="DM Sans"/>
              </a:rPr>
              <a:t>Jacaranda Health</a:t>
            </a:r>
          </a:p>
        </p:txBody>
      </p:sp>
    </p:spTree>
    <p:bldLst>
      <p:bldP spid="3" grpId="0" animBg="1"/>
      <p:bldP spid="4" grpId="0" animBg="1"/>
      <p:bldP spid="5" grpId="0" animBg="1"/>
      <p:bldP spid="6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urney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Where we came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Four ways of seeing reach — until the pin was the mentee.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02 / 14</a:t>
            </a:r>
          </a:p>
        </p:txBody>
      </p:sp>
    </p:spTree>
    <p:bldLst>
      <p:bldP spid="3" grpId="0" animBg="1"/>
      <p:bldP spid="4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28016" cy="128016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2018 —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Facility-level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At the start of MENTORS, reach was counted by place — not by person.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·  A CME on AMTSL in a facility meant every HCW there was treated as trained.</a:t>
            </a:r>
          </a:p>
          <a:p>
            <a:pPr algn="l">
              <a:spcBef>
                <a:spcPts val="1400"/>
              </a:spcBef>
            </a:pPr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·  “7,441 HCWs trained” was an estimate from maternity-wing headcount.</a:t>
            </a:r>
          </a:p>
          <a:p>
            <a:pPr algn="l">
              <a:spcBef>
                <a:spcPts val="1400"/>
              </a:spcBef>
            </a:pPr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·  Retirements, transfers, and non-participation quietly inflated coverage.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2651760"/>
            <a:ext cx="18288" cy="2926080"/>
          </a:xfrm>
          <a:prstGeom prst="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What it cost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1089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Estimates, not individuals.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Attrition invisible.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No mentee-level truth.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03 / 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28016" cy="128016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The 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Random mentee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JH moved tracking to the mentee — but the identifier was still improvised.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·  IFMs selected a facility, typed name + phone (mentee_id), then activities.</a:t>
            </a:r>
          </a:p>
          <a:p>
            <a:pPr algn="l">
              <a:spcBef>
                <a:spcPts val="1400"/>
              </a:spcBef>
            </a:pPr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·  Better than facility assumptions — still dependent on memory and keystrokes.</a:t>
            </a:r>
          </a:p>
          <a:p>
            <a:pPr algn="l">
              <a:spcBef>
                <a:spcPts val="1400"/>
              </a:spcBef>
            </a:pPr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·  Mistyped phones and alternate numbers broke the unique 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2651760"/>
            <a:ext cx="18288" cy="2926080"/>
          </a:xfrm>
          <a:prstGeom prst="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The fracture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1089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Manual entry.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Duplicate IDs.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Phone ≠ reliable key.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04 / 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28016" cy="128016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PO-led mentee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457200" cy="45720"/>
          </a:xfrm>
          <a:prstGeom prst="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POs visit facilities and register HCWs eligible for MENTORS.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19" y="2011680"/>
            <a:ext cx="457200" cy="45720"/>
          </a:xfrm>
          <a:prstGeom prst="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Preload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28346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Mentee details are loaded into Kobo before collection — IFMs select, not invent.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8" y="2011680"/>
            <a:ext cx="457200" cy="45720"/>
          </a:xfrm>
          <a:prstGeom prst="rect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28346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WhatsApp numbers now supplement mentee_id so in-person and DELTA connect.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Vision — a mentee finishes entirely in person, or mixes modules on DELTA. Same person. Same pin.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05 / 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What forced 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Mentee-level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Facility counts could not tell us who was actually mentored.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Field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26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IFM-entered names and phones drifted under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Manual preload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Quality jumped — maintenance did not. Spreadsheets broke.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Attrition 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120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Inactive mentees lingered in tools long after they left.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06 / 14</a:t>
            </a:r>
          </a:p>
        </p:txBody>
      </p:sp>
    </p:spTree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ess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How the tools stay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One spine. Five moments between database and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463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Mentee + IFM databases — cleaned, normalized, deduplicated.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Reusable survey / choice / settings fragments.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Builders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XLSForm-ready sheets for each Kobo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206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Active-only, logic-checked, no duplicate choices.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120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Upload. Version. Ready for the field.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07 / 14</a:t>
            </a:r>
          </a:p>
        </p:txBody>
      </p:sp>
    </p:spTree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64592" cy="164592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Bring the source of truth into one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Pull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Latest mentee and IFM records into the working sheet.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560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Names, IDs, counties, facilities — Kobo-safe.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83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Status → Active / Inactive. Program → MENTORS / Newborn / Both.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Incomplete rows (missing ID, name, county, facility, or code).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Dedupe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029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Facility–program–status combinations before anything is built.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08 / 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64592" cy="164592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Fragments every form builder shares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" cy="45720"/>
          </a:xfrm>
          <a:prstGeom prst="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type · name · label · hint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required / messages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relevant · constraint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calculation · choice_filter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appearance · 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19" y="1828800"/>
            <a:ext cx="1097280" cy="45720"/>
          </a:xfrm>
          <a:prstGeom prst="rect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2057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Choices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26060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list_name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name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label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choice_filter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8" y="1828800"/>
            <a:ext cx="1097280" cy="4572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2057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26060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allow_choice_duplicates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09 / 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64592" cy="164592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Form builders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Five tools. One grammar.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EmONC Curriculum Tracking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Newborn Curriculum Tracking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MoH Skills Assessment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60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EmONC Knowledge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937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Newborn Knowledge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10 / 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64592" cy="164592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DM Sans"/>
                <a:ea typeface="DM Sans"/>
                <a:cs typeface="DM Sans"/>
              </a:rPr>
              <a:t>Validate before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Trust, then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Only Active, correctly programmed records in mentee builders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134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Relevance / skip logic matches field 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52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3522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Choice lists align with select_one / select_multiple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570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5701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Required fields + choice filters behave as intended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788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788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Messages, notes, and hints read cleanly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006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Hide logic waits for required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22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6B5A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223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F1A"/>
                </a:solidFill>
                <a:latin typeface="DM Sans"/>
                <a:ea typeface="DM Sans"/>
                <a:cs typeface="DM Sans"/>
              </a:rPr>
              <a:t>No duplicate facilities, mentees, or IFMs in choices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11 / 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When a pin doesn’t appear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Usual reasons a mentee, mentor, or facility is missing from the Kobo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02920" cy="45720"/>
          </a:xfrm>
          <a:prstGeom prst="rect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·  Invalid mentee_id — format, spaces, length, or not starting with 1 / 7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·  Inactive or blank status / date_activated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·  Absent from Mentee or IFM 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63040"/>
            <a:ext cx="502920" cy="45720"/>
          </a:xfrm>
          <a:prstGeom prst="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9456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·  Wrong Program (Newborn vs EmONC vs Both)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·  EmONC In-person = No for an EmONC mentee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·  Both Newborn in-person flags blank / No → Error!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63040"/>
            <a:ext cx="502920" cy="45720"/>
          </a:xfrm>
          <a:prstGeom prst="rect">
            <a:avLst/>
          </a:prstGeom>
          <a:solidFill>
            <a:srgbClr val="2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F1A"/>
                </a:solidFill>
                <a:latin typeface="Source Serif 4"/>
                <a:ea typeface="Source Serif 4"/>
                <a:cs typeface="Source Serif 4"/>
              </a:rPr>
              <a:t>Facility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·  Name typos (Centre vs Center) break relevance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·  Reused facility codes — one dropped as duplicate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DM Sans"/>
                <a:ea typeface="DM Sans"/>
                <a:cs typeface="DM Sans"/>
              </a:rPr>
              <a:t>·  Code blank or mapped to the wrong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A92"/>
                </a:solidFill>
                <a:latin typeface="JetBrains Mono"/>
                <a:ea typeface="JetBrains Mono"/>
                <a:cs typeface="JetBrains Mono"/>
              </a:rPr>
              <a:t>12 / 14</a:t>
            </a:r>
          </a:p>
        </p:txBody>
      </p:sp>
    </p:spTree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our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ource Serif 4"/>
                <a:ea typeface="Source Serif 4"/>
                <a:cs typeface="Source Serif 4"/>
              </a:rPr>
              <a:t>Upload the builders.
Version the forms. Release to the field.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8E0DB"/>
                </a:solidFill>
                <a:latin typeface="JetBrains Mono"/>
                <a:ea typeface="JetBrains Mono"/>
                <a:cs typeface="JetBrains Mono"/>
              </a:rPr>
              <a:t>13 / 14</a:t>
            </a:r>
          </a:p>
        </p:txBody>
      </p:sp>
    </p:spTree>
    <p:bldLst>
      <p:bldP spid="3" grpId="0" animBg="1"/>
      <p:bldP spid="4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ture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286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erif 4"/>
                <a:ea typeface="Source Serif 4"/>
                <a:cs typeface="Source Serif 4"/>
              </a:rPr>
              <a:t>Mentee mapping,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8E0DB"/>
                </a:solidFill>
                <a:latin typeface="DM Sans"/>
                <a:ea typeface="DM Sans"/>
                <a:cs typeface="DM Sans"/>
              </a:rPr>
              <a:t>IFM-led mapping through a dedicated Kobo tool —
the pin placed where care happens.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92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8E0DB"/>
                </a:solidFill>
                <a:latin typeface="JetBrains Mono"/>
                <a:ea typeface="JetBrains Mono"/>
                <a:cs typeface="JetBrains Mono"/>
              </a:rPr>
              <a:t>14 / 14</a:t>
            </a:r>
          </a:p>
        </p:txBody>
      </p:sp>
    </p:spTree>
    <p:bldLst>
      <p:bldP spid="3" grpId="0" animBg="1"/>
      <p:bldP spid="4" grpId="0" animBg="1"/>
      <p:bldP spid="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