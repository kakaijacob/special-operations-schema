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46720" y="-1371600"/>
            <a:ext cx="5943600" cy="5943600"/>
          </a:xfrm>
          <a:prstGeom prst="ellipse">
            <a:avLst/>
          </a:prstGeom>
          <a:solidFill>
            <a:srgbClr val="2E3545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828800" y="3657600"/>
            <a:ext cx="4572000" cy="4572000"/>
          </a:xfrm>
          <a:prstGeom prst="ellipse">
            <a:avLst/>
          </a:prstGeom>
          <a:solidFill>
            <a:srgbClr val="0C1C28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D4F00"/>
                </a:solidFill>
                <a:latin typeface="DM Sans"/>
                <a:ea typeface="DM Sans"/>
                <a:cs typeface="DM Sans"/>
              </a:rPr>
              <a:t>STANDARD OPERATING PROCEDURE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116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Source Serif 4"/>
                <a:ea typeface="Source Serif 4"/>
                <a:cs typeface="Source Serif 4"/>
              </a:rPr>
              <a:t>Mentee Mapping SOP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246120"/>
            <a:ext cx="1280160" cy="64008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52044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A9AEFF"/>
                </a:solidFill>
                <a:latin typeface="DM Sans"/>
                <a:ea typeface="DM Sans"/>
                <a:cs typeface="DM Sans"/>
              </a:rPr>
              <a:t>From the Mentee Database to Kobo Tool Updates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806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B93A0"/>
                </a:solidFill>
                <a:latin typeface="DM Sans"/>
                <a:ea typeface="DM Sans"/>
                <a:cs typeface="DM Sans"/>
              </a:rPr>
              <a:t>Jacaranda Health  ·  MENTORS Program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580644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8B93A0"/>
                </a:solidFill>
                <a:latin typeface="DM Sans"/>
                <a:ea typeface="DM Sans"/>
                <a:cs typeface="DM Sans"/>
              </a:rPr>
              <a:t>Data Quality  ·  Automation  ·  Scale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0" y="-2011680"/>
            <a:ext cx="6400800" cy="6400800"/>
          </a:xfrm>
          <a:prstGeom prst="ellipse">
            <a:avLst/>
          </a:prstGeom>
          <a:solidFill>
            <a:srgbClr val="FBF0E8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286000" y="4114800"/>
            <a:ext cx="5943600" cy="5029200"/>
          </a:xfrm>
          <a:prstGeom prst="ellipse">
            <a:avLst/>
          </a:prstGeom>
          <a:solidFill>
            <a:srgbClr val="EEF0F4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61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620256"/>
            <a:ext cx="6400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3A0"/>
                </a:solidFill>
                <a:latin typeface="DM Sans"/>
                <a:ea typeface="DM Sans"/>
                <a:cs typeface="DM Sans"/>
              </a:rPr>
              <a:t>Mentee Mapping SOP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62025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B93A0"/>
                </a:solidFill>
                <a:latin typeface="DM Sans"/>
                <a:ea typeface="DM Sans"/>
                <a:cs typeface="DM Sans"/>
              </a:rPr>
              <a:t>2  · 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5720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6121B"/>
                </a:solidFill>
                <a:latin typeface="Source Serif 4"/>
                <a:ea typeface="Source Serif 4"/>
                <a:cs typeface="Source Serif 4"/>
              </a:rPr>
              <a:t>Where did we come from?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9875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A5563"/>
                </a:solidFill>
                <a:latin typeface="DM Sans"/>
                <a:ea typeface="DM Sans"/>
                <a:cs typeface="DM Sans"/>
              </a:rPr>
              <a:t>Evolution of mentee mapping approaches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606040"/>
            <a:ext cx="10607040" cy="32004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00200" y="2468880"/>
            <a:ext cx="320040" cy="320040"/>
          </a:xfrm>
          <a:prstGeom prst="ellipse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00200" y="2505456"/>
            <a:ext cx="320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0896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121B"/>
                </a:solidFill>
                <a:latin typeface="Source Serif 4"/>
                <a:ea typeface="Source Serif 4"/>
                <a:cs typeface="Source Serif 4"/>
              </a:rPr>
              <a:t>Facility Level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749040"/>
            <a:ext cx="25603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5563"/>
                </a:solidFill>
                <a:latin typeface="DM Sans"/>
                <a:ea typeface="DM Sans"/>
                <a:cs typeface="DM Sans"/>
              </a:rPr>
              <a:t>Tracked mentorship at facility level — not at mentee level.</a:t>
            </a:r>
          </a:p>
        </p:txBody>
      </p:sp>
      <p:sp>
        <p:nvSpPr>
          <p:cNvPr id="16" name="Oval 15"/>
          <p:cNvSpPr/>
          <p:nvPr/>
        </p:nvSpPr>
        <p:spPr>
          <a:xfrm>
            <a:off x="4434840" y="2468880"/>
            <a:ext cx="320040" cy="320040"/>
          </a:xfrm>
          <a:prstGeom prst="ellipse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2505456"/>
            <a:ext cx="320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310896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121B"/>
                </a:solidFill>
                <a:latin typeface="Source Serif 4"/>
                <a:ea typeface="Source Serif 4"/>
                <a:cs typeface="Source Serif 4"/>
              </a:rPr>
              <a:t>Random Mapping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3749040"/>
            <a:ext cx="25603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5563"/>
                </a:solidFill>
                <a:latin typeface="DM Sans"/>
                <a:ea typeface="DM Sans"/>
                <a:cs typeface="DM Sans"/>
              </a:rPr>
              <a:t>IFMs keyed in mentee details on Kobo with activities undertaken.</a:t>
            </a:r>
          </a:p>
        </p:txBody>
      </p:sp>
      <p:sp>
        <p:nvSpPr>
          <p:cNvPr id="20" name="Oval 19"/>
          <p:cNvSpPr/>
          <p:nvPr/>
        </p:nvSpPr>
        <p:spPr>
          <a:xfrm>
            <a:off x="7269480" y="2468880"/>
            <a:ext cx="320040" cy="320040"/>
          </a:xfrm>
          <a:prstGeom prst="ellipse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69480" y="2505456"/>
            <a:ext cx="320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10896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121B"/>
                </a:solidFill>
                <a:latin typeface="Source Serif 4"/>
                <a:ea typeface="Source Serif 4"/>
                <a:cs typeface="Source Serif 4"/>
              </a:rPr>
              <a:t>PO-led Mapping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3749040"/>
            <a:ext cx="25603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5563"/>
                </a:solidFill>
                <a:latin typeface="DM Sans"/>
                <a:ea typeface="DM Sans"/>
                <a:cs typeface="DM Sans"/>
              </a:rPr>
              <a:t>Preloaded mentee names on Kobo so IFMs simply select names.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2926080"/>
            <a:ext cx="2697480" cy="3108960"/>
          </a:xfrm>
          <a:prstGeom prst="roundRect">
            <a:avLst>
              <a:gd name="adj" fmla="val 4000"/>
            </a:avLst>
          </a:prstGeom>
          <a:solidFill>
            <a:srgbClr val="FBF0E8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104120" y="2468880"/>
            <a:ext cx="320040" cy="320040"/>
          </a:xfrm>
          <a:prstGeom prst="ellipse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04120" y="2505456"/>
            <a:ext cx="320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81160" y="306324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D4F00"/>
                </a:solidFill>
                <a:latin typeface="DM Sans"/>
                <a:ea typeface="DM Sans"/>
                <a:cs typeface="DM Sans"/>
              </a:rPr>
              <a:t>PROPOSED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81160" y="333756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121B"/>
                </a:solidFill>
                <a:latin typeface="Source Serif 4"/>
                <a:ea typeface="Source Serif 4"/>
                <a:cs typeface="Source Serif 4"/>
              </a:rPr>
              <a:t>Facility-led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1160" y="3977640"/>
            <a:ext cx="25603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5563"/>
                </a:solidFill>
                <a:latin typeface="DM Sans"/>
                <a:ea typeface="DM Sans"/>
                <a:cs typeface="DM Sans"/>
              </a:rPr>
              <a:t>IFM-led mentee mapping via a dedicated Kobo tool — proposed future.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0" y="-2011680"/>
            <a:ext cx="6400800" cy="6400800"/>
          </a:xfrm>
          <a:prstGeom prst="ellipse">
            <a:avLst/>
          </a:prstGeom>
          <a:solidFill>
            <a:srgbClr val="FBF0E8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286000" y="4114800"/>
            <a:ext cx="5943600" cy="5029200"/>
          </a:xfrm>
          <a:prstGeom prst="ellipse">
            <a:avLst/>
          </a:prstGeom>
          <a:solidFill>
            <a:srgbClr val="EEF0F4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61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620256"/>
            <a:ext cx="6400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3A0"/>
                </a:solidFill>
                <a:latin typeface="DM Sans"/>
                <a:ea typeface="DM Sans"/>
                <a:cs typeface="DM Sans"/>
              </a:rPr>
              <a:t>Mentee Mapping SOP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62025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B93A0"/>
                </a:solidFill>
                <a:latin typeface="DM Sans"/>
                <a:ea typeface="DM Sans"/>
                <a:cs typeface="DM Sans"/>
              </a:rPr>
              <a:t>3  · 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4754880"/>
            <a:ext cx="2377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600" b="1">
                <a:solidFill>
                  <a:srgbClr val="E6E2DC"/>
                </a:solidFill>
                <a:latin typeface="Source Serif 4"/>
                <a:ea typeface="Source Serif 4"/>
                <a:cs typeface="Source Serif 4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D4F00"/>
                </a:solidFill>
                <a:latin typeface="DM Sans"/>
                <a:ea typeface="DM Sans"/>
                <a:cs typeface="DM Sans"/>
              </a:rPr>
              <a:t>APPROACH 01  ·  2018–2023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75488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6121B"/>
                </a:solidFill>
                <a:latin typeface="Source Serif 4"/>
                <a:ea typeface="Source Serif 4"/>
                <a:cs typeface="Source Serif 4"/>
              </a:rPr>
              <a:t>Facility Level Mapping Approach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280160"/>
            <a:ext cx="73152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1A222C"/>
                </a:solidFill>
                <a:latin typeface="DM Sans"/>
                <a:ea typeface="DM Sans"/>
                <a:cs typeface="DM Sans"/>
              </a:rPr>
              <a:t>•  At the inception of the MENTORS program, data was tracked at facility level.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865376"/>
            <a:ext cx="73152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1A222C"/>
                </a:solidFill>
                <a:latin typeface="DM Sans"/>
                <a:ea typeface="DM Sans"/>
                <a:cs typeface="DM Sans"/>
              </a:rPr>
              <a:t>•  If a mentorship session — e.g. a CME on AMTSL — took place in a facility, we assumed that all HCWs in that facility were trained on that module.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706624"/>
            <a:ext cx="731520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1A222C"/>
                </a:solidFill>
                <a:latin typeface="DM Sans"/>
                <a:ea typeface="DM Sans"/>
                <a:cs typeface="DM Sans"/>
              </a:rPr>
              <a:t>•  When we say we trained 7,441 HCWs in the pre-cohort model (2018–2023), it is an estimate based on HCWs working in the maternity wing of partner facilities at that time.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803904"/>
            <a:ext cx="73152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1A222C"/>
                </a:solidFill>
                <a:latin typeface="DM Sans"/>
                <a:ea typeface="DM Sans"/>
                <a:cs typeface="DM Sans"/>
              </a:rPr>
              <a:t>•  This method was not very accurate — HCWs attrited through retirements, promotions, transfers, or lack of participation.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280160"/>
            <a:ext cx="3429000" cy="4754880"/>
          </a:xfrm>
          <a:prstGeom prst="rect">
            <a:avLst/>
          </a:prstGeom>
          <a:solidFill>
            <a:srgbClr val="061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1280160"/>
            <a:ext cx="3429000" cy="73152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0" y="16002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D4F00"/>
                </a:solidFill>
                <a:latin typeface="DM Sans"/>
                <a:ea typeface="DM Sans"/>
                <a:cs typeface="DM Sans"/>
              </a:rPr>
              <a:t>Key takeaway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2148840"/>
            <a:ext cx="2926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•  Facility-level counts were estimates, not individual reach.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•  Attrition and non-participation inflated reported coverage.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•  Drove the shift to mentee-level tracking.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521208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800" b="1">
                <a:solidFill>
                  <a:srgbClr val="1A2835"/>
                </a:solidFill>
                <a:latin typeface="Source Serif 4"/>
                <a:ea typeface="Source Serif 4"/>
                <a:cs typeface="Source Serif 4"/>
              </a:rPr>
              <a:t>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0" y="-2011680"/>
            <a:ext cx="6400800" cy="6400800"/>
          </a:xfrm>
          <a:prstGeom prst="ellipse">
            <a:avLst/>
          </a:prstGeom>
          <a:solidFill>
            <a:srgbClr val="FBF0E8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286000" y="4114800"/>
            <a:ext cx="5943600" cy="5029200"/>
          </a:xfrm>
          <a:prstGeom prst="ellipse">
            <a:avLst/>
          </a:prstGeom>
          <a:solidFill>
            <a:srgbClr val="EEF0F4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61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620256"/>
            <a:ext cx="6400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3A0"/>
                </a:solidFill>
                <a:latin typeface="DM Sans"/>
                <a:ea typeface="DM Sans"/>
                <a:cs typeface="DM Sans"/>
              </a:rPr>
              <a:t>Mentee Mapping SOP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62025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B93A0"/>
                </a:solidFill>
                <a:latin typeface="DM Sans"/>
                <a:ea typeface="DM Sans"/>
                <a:cs typeface="DM Sans"/>
              </a:rPr>
              <a:t>4  · 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4754880"/>
            <a:ext cx="2377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600" b="1">
                <a:solidFill>
                  <a:srgbClr val="E6E2DC"/>
                </a:solidFill>
                <a:latin typeface="Source Serif 4"/>
                <a:ea typeface="Source Serif 4"/>
                <a:cs typeface="Source Serif 4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D4F00"/>
                </a:solidFill>
                <a:latin typeface="DM Sans"/>
                <a:ea typeface="DM Sans"/>
                <a:cs typeface="DM Sans"/>
              </a:rPr>
              <a:t>APPROACH 02  ·  MENTEE-LEVEL PIVOT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75488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6121B"/>
                </a:solidFill>
                <a:latin typeface="Source Serif 4"/>
                <a:ea typeface="Source Serif 4"/>
                <a:cs typeface="Source Serif 4"/>
              </a:rPr>
              <a:t>Random Mapping Approach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280160"/>
            <a:ext cx="73152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1A222C"/>
                </a:solidFill>
                <a:latin typeface="DM Sans"/>
                <a:ea typeface="DM Sans"/>
                <a:cs typeface="DM Sans"/>
              </a:rPr>
              <a:t>•  JH pivoted to mentee-level tracking of MENTORS Program reach.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865376"/>
            <a:ext cx="73152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1A222C"/>
                </a:solidFill>
                <a:latin typeface="DM Sans"/>
                <a:ea typeface="DM Sans"/>
                <a:cs typeface="DM Sans"/>
              </a:rPr>
              <a:t>•  IFMs keyed in mentee details: select facility → enter mentee name → enter phone number (mentee_id) → select activities participated 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706624"/>
            <a:ext cx="73152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1A222C"/>
                </a:solidFill>
                <a:latin typeface="DM Sans"/>
                <a:ea typeface="DM Sans"/>
                <a:cs typeface="DM Sans"/>
              </a:rPr>
              <a:t>•  This was an improvement over facility-level assumptions.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291840"/>
            <a:ext cx="73152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1A222C"/>
                </a:solidFill>
                <a:latin typeface="DM Sans"/>
                <a:ea typeface="DM Sans"/>
                <a:cs typeface="DM Sans"/>
              </a:rPr>
              <a:t>•  Key limitation: heavy reliance on IFM memory and accuracy. Errors in mentee_id and inconsistent phone numbers limited reliability as a unique identifier.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280160"/>
            <a:ext cx="3429000" cy="4754880"/>
          </a:xfrm>
          <a:prstGeom prst="rect">
            <a:avLst/>
          </a:prstGeom>
          <a:solidFill>
            <a:srgbClr val="061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1280160"/>
            <a:ext cx="3429000" cy="73152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0" y="16002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D4F00"/>
                </a:solidFill>
                <a:latin typeface="DM Sans"/>
                <a:ea typeface="DM Sans"/>
                <a:cs typeface="DM Sans"/>
              </a:rPr>
              <a:t>Limitation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2148840"/>
            <a:ext cx="2926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•  Manual entry of names &amp; phone numbers.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•  Duplicate / mistyped mentee_ids.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•  Phone number unreliable as unique ID.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•  Data quality depended on IFM recall.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521208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800" b="1">
                <a:solidFill>
                  <a:srgbClr val="1A2835"/>
                </a:solidFill>
                <a:latin typeface="Source Serif 4"/>
                <a:ea typeface="Source Serif 4"/>
                <a:cs typeface="Source Serif 4"/>
              </a:rPr>
              <a:t>02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0" y="-2011680"/>
            <a:ext cx="6400800" cy="6400800"/>
          </a:xfrm>
          <a:prstGeom prst="ellipse">
            <a:avLst/>
          </a:prstGeom>
          <a:solidFill>
            <a:srgbClr val="FBF0E8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286000" y="4114800"/>
            <a:ext cx="5943600" cy="5029200"/>
          </a:xfrm>
          <a:prstGeom prst="ellipse">
            <a:avLst/>
          </a:prstGeom>
          <a:solidFill>
            <a:srgbClr val="EEF0F4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61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620256"/>
            <a:ext cx="6400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3A0"/>
                </a:solidFill>
                <a:latin typeface="DM Sans"/>
                <a:ea typeface="DM Sans"/>
                <a:cs typeface="DM Sans"/>
              </a:rPr>
              <a:t>Mentee Mapping SOP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62025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B93A0"/>
                </a:solidFill>
                <a:latin typeface="DM Sans"/>
                <a:ea typeface="DM Sans"/>
                <a:cs typeface="DM Sans"/>
              </a:rPr>
              <a:t>5  · 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4754880"/>
            <a:ext cx="2377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600" b="1">
                <a:solidFill>
                  <a:srgbClr val="E6E2DC"/>
                </a:solidFill>
                <a:latin typeface="Source Serif 4"/>
                <a:ea typeface="Source Serif 4"/>
                <a:cs typeface="Source Serif 4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D4F00"/>
                </a:solidFill>
                <a:latin typeface="DM Sans"/>
                <a:ea typeface="DM Sans"/>
                <a:cs typeface="DM Sans"/>
              </a:rPr>
              <a:t>APPROACH 03  ·  CURRENT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75488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6121B"/>
                </a:solidFill>
                <a:latin typeface="Source Serif 4"/>
                <a:ea typeface="Source Serif 4"/>
                <a:cs typeface="Source Serif 4"/>
              </a:rPr>
              <a:t>PO-led Mentee Mapping Approach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44168"/>
            <a:ext cx="73152" cy="73152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23444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22C"/>
                </a:solidFill>
                <a:latin typeface="DM Sans"/>
                <a:ea typeface="DM Sans"/>
                <a:cs typeface="DM Sans"/>
              </a:rPr>
              <a:t>POs visit facilities and map HCWs eligible for the MENTORS Program.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057400"/>
            <a:ext cx="73152" cy="73152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94767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22C"/>
                </a:solidFill>
                <a:latin typeface="DM Sans"/>
                <a:ea typeface="DM Sans"/>
                <a:cs typeface="DM Sans"/>
              </a:rPr>
              <a:t>Mapped mentee data is used to preload mentee details on Kobo before data collection.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70632"/>
            <a:ext cx="73152" cy="73152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660904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22C"/>
                </a:solidFill>
                <a:latin typeface="DM Sans"/>
                <a:ea typeface="DM Sans"/>
                <a:cs typeface="DM Sans"/>
              </a:rPr>
              <a:t>Immensely improved mentorship data quality — phone number (mentee_id) became a reliable unique identifier.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483864"/>
            <a:ext cx="73152" cy="73152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374136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22C"/>
                </a:solidFill>
                <a:latin typeface="DM Sans"/>
                <a:ea typeface="DM Sans"/>
                <a:cs typeface="DM Sans"/>
              </a:rPr>
              <a:t>Hybrid program need: WhatsApp numbers now collected to supplement mentee_id, linking in-person mentorship to virtual DELTA.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197096"/>
            <a:ext cx="73152" cy="73152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087368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22C"/>
                </a:solidFill>
                <a:latin typeface="DM Sans"/>
                <a:ea typeface="DM Sans"/>
                <a:cs typeface="DM Sans"/>
              </a:rPr>
              <a:t>Vision: a mentee can complete the curriculum entirely in-person, or take some modules virtually via DELTA (hybrid).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440680"/>
            <a:ext cx="11155680" cy="822960"/>
          </a:xfrm>
          <a:prstGeom prst="rect">
            <a:avLst/>
          </a:prstGeom>
          <a:solidFill>
            <a:srgbClr val="061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66928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Impact — Preloading mentee details on Kobo significantly increased the reliability of mentee_id and overall data quality.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0" y="-2011680"/>
            <a:ext cx="6400800" cy="6400800"/>
          </a:xfrm>
          <a:prstGeom prst="ellipse">
            <a:avLst/>
          </a:prstGeom>
          <a:solidFill>
            <a:srgbClr val="FBF0E8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286000" y="4114800"/>
            <a:ext cx="5943600" cy="5029200"/>
          </a:xfrm>
          <a:prstGeom prst="ellipse">
            <a:avLst/>
          </a:prstGeom>
          <a:solidFill>
            <a:srgbClr val="EEF0F4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61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620256"/>
            <a:ext cx="6400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3A0"/>
                </a:solidFill>
                <a:latin typeface="DM Sans"/>
                <a:ea typeface="DM Sans"/>
                <a:cs typeface="DM Sans"/>
              </a:rPr>
              <a:t>Mentee Mapping SOP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62025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B93A0"/>
                </a:solidFill>
                <a:latin typeface="DM Sans"/>
                <a:ea typeface="DM Sans"/>
                <a:cs typeface="DM Sans"/>
              </a:rPr>
              <a:t>6  · 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5720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6121B"/>
                </a:solidFill>
                <a:latin typeface="Source Serif 4"/>
                <a:ea typeface="Source Serif 4"/>
                <a:cs typeface="Source Serif 4"/>
              </a:rPr>
              <a:t>What was the problem?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9875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A5563"/>
                </a:solidFill>
                <a:latin typeface="DM Sans"/>
                <a:ea typeface="DM Sans"/>
                <a:cs typeface="DM Sans"/>
              </a:rPr>
              <a:t>Why automation became necessary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417320"/>
            <a:ext cx="5532120" cy="36576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64592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D4F00"/>
                </a:solidFill>
                <a:latin typeface="Source Serif 4"/>
                <a:ea typeface="Source Serif 4"/>
                <a:cs typeface="Source Serif 4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169164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121B"/>
                </a:solidFill>
                <a:latin typeface="Source Serif 4"/>
                <a:ea typeface="Source Serif 4"/>
                <a:cs typeface="Source Serif 4"/>
              </a:rPr>
              <a:t>Mentee-level tracking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331720"/>
            <a:ext cx="5303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A5563"/>
                </a:solidFill>
                <a:latin typeface="DM Sans"/>
                <a:ea typeface="DM Sans"/>
                <a:cs typeface="DM Sans"/>
              </a:rPr>
              <a:t>Need to track mentorship at the mentee level — not only at facility level.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1417320"/>
            <a:ext cx="5532120" cy="36576"/>
          </a:xfrm>
          <a:prstGeom prst="rect">
            <a:avLst/>
          </a:prstGeom>
          <a:solidFill>
            <a:srgbClr val="7478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64592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7478B6"/>
                </a:solidFill>
                <a:latin typeface="Source Serif 4"/>
                <a:ea typeface="Source Serif 4"/>
                <a:cs typeface="Source Serif 4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169164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121B"/>
                </a:solidFill>
                <a:latin typeface="Source Serif 4"/>
                <a:ea typeface="Source Serif 4"/>
                <a:cs typeface="Source Serif 4"/>
              </a:rPr>
              <a:t>Field data errors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331720"/>
            <a:ext cx="5303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A5563"/>
                </a:solidFill>
                <a:latin typeface="DM Sans"/>
                <a:ea typeface="DM Sans"/>
                <a:cs typeface="DM Sans"/>
              </a:rPr>
              <a:t>Inaccurate mentee data entered by IFMs during data collection in the field.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657600"/>
            <a:ext cx="5532120" cy="36576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88620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D4F00"/>
                </a:solidFill>
                <a:latin typeface="Source Serif 4"/>
                <a:ea typeface="Source Serif 4"/>
                <a:cs typeface="Source Serif 4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393192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121B"/>
                </a:solidFill>
                <a:latin typeface="Source Serif 4"/>
                <a:ea typeface="Source Serif 4"/>
                <a:cs typeface="Source Serif 4"/>
              </a:rPr>
              <a:t>Manual preloading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572000"/>
            <a:ext cx="5303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A5563"/>
                </a:solidFill>
                <a:latin typeface="DM Sans"/>
                <a:ea typeface="DM Sans"/>
                <a:cs typeface="DM Sans"/>
              </a:rPr>
              <a:t>Preloading mentee details into Kobo improved quality, but remained manual and error-prone.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3657600"/>
            <a:ext cx="5532120" cy="36576"/>
          </a:xfrm>
          <a:prstGeom prst="rect">
            <a:avLst/>
          </a:prstGeom>
          <a:solidFill>
            <a:srgbClr val="7478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388620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7478B6"/>
                </a:solidFill>
                <a:latin typeface="Source Serif 4"/>
                <a:ea typeface="Source Serif 4"/>
                <a:cs typeface="Source Serif 4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393192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121B"/>
                </a:solidFill>
                <a:latin typeface="Source Serif 4"/>
                <a:ea typeface="Source Serif 4"/>
                <a:cs typeface="Source Serif 4"/>
              </a:rPr>
              <a:t>Painful updates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72000"/>
            <a:ext cx="5303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A5563"/>
                </a:solidFill>
                <a:latin typeface="DM Sans"/>
                <a:ea typeface="DM Sans"/>
                <a:cs typeface="DM Sans"/>
              </a:rPr>
              <a:t>Mentee attrition is expected; keeping Kobo Tools up to date was a painful, ongoing process.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0" y="-2011680"/>
            <a:ext cx="6400800" cy="6400800"/>
          </a:xfrm>
          <a:prstGeom prst="ellipse">
            <a:avLst/>
          </a:prstGeom>
          <a:solidFill>
            <a:srgbClr val="FBF0E8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286000" y="4114800"/>
            <a:ext cx="5943600" cy="5029200"/>
          </a:xfrm>
          <a:prstGeom prst="ellipse">
            <a:avLst/>
          </a:prstGeom>
          <a:solidFill>
            <a:srgbClr val="EEF0F4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61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620256"/>
            <a:ext cx="6400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3A0"/>
                </a:solidFill>
                <a:latin typeface="DM Sans"/>
                <a:ea typeface="DM Sans"/>
                <a:cs typeface="DM Sans"/>
              </a:rPr>
              <a:t>Mentee Mapping SOP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62025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B93A0"/>
                </a:solidFill>
                <a:latin typeface="DM Sans"/>
                <a:ea typeface="DM Sans"/>
                <a:cs typeface="DM Sans"/>
              </a:rPr>
              <a:t>7  · 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5720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6121B"/>
                </a:solidFill>
                <a:latin typeface="Source Serif 4"/>
                <a:ea typeface="Source Serif 4"/>
                <a:cs typeface="Source Serif 4"/>
              </a:rPr>
              <a:t>Kobo Tool Update Process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9875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A5563"/>
                </a:solidFill>
                <a:latin typeface="DM Sans"/>
                <a:ea typeface="DM Sans"/>
                <a:cs typeface="DM Sans"/>
              </a:rPr>
              <a:t>Five steps from database sync to deployed forms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234440"/>
            <a:ext cx="1005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D4F00"/>
                </a:solidFill>
                <a:latin typeface="Source Serif 4"/>
                <a:ea typeface="Source Serif 4"/>
                <a:cs typeface="Source Serif 4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128016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6121B"/>
                </a:solidFill>
                <a:latin typeface="Source Serif 4"/>
                <a:ea typeface="Source Serif 4"/>
                <a:cs typeface="Source Serif 4"/>
              </a:rPr>
              <a:t>Sync Databases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16459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5563"/>
                </a:solidFill>
                <a:latin typeface="DM Sans"/>
                <a:ea typeface="DM Sans"/>
                <a:cs typeface="DM Sans"/>
              </a:rPr>
              <a:t>Mentee &amp; IFM databases synced, cleaned, and filtered for valid records.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45920" y="2103120"/>
            <a:ext cx="9601200" cy="13716"/>
          </a:xfrm>
          <a:prstGeom prst="rect">
            <a:avLst/>
          </a:prstGeom>
          <a:solidFill>
            <a:srgbClr val="D0D4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194560"/>
            <a:ext cx="1005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D4F00"/>
                </a:solidFill>
                <a:latin typeface="Source Serif 4"/>
                <a:ea typeface="Source Serif 4"/>
                <a:cs typeface="Source Serif 4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22402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6121B"/>
                </a:solidFill>
                <a:latin typeface="Source Serif 4"/>
                <a:ea typeface="Source Serif 4"/>
                <a:cs typeface="Source Serif 4"/>
              </a:rPr>
              <a:t>Building Blocks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260604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5563"/>
                </a:solidFill>
                <a:latin typeface="DM Sans"/>
                <a:ea typeface="DM Sans"/>
                <a:cs typeface="DM Sans"/>
              </a:rPr>
              <a:t>Reusable intermediate sheets: types, names, labels, relevance, calculations, choices.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45920" y="3063240"/>
            <a:ext cx="9601200" cy="13716"/>
          </a:xfrm>
          <a:prstGeom prst="rect">
            <a:avLst/>
          </a:prstGeom>
          <a:solidFill>
            <a:srgbClr val="D0D4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154680"/>
            <a:ext cx="1005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D4F00"/>
                </a:solidFill>
                <a:latin typeface="Source Serif 4"/>
                <a:ea typeface="Source Serif 4"/>
                <a:cs typeface="Source Serif 4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320040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6121B"/>
                </a:solidFill>
                <a:latin typeface="Source Serif 4"/>
                <a:ea typeface="Source Serif 4"/>
                <a:cs typeface="Source Serif 4"/>
              </a:rPr>
              <a:t>Form Builders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56616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5563"/>
                </a:solidFill>
                <a:latin typeface="DM Sans"/>
                <a:ea typeface="DM Sans"/>
                <a:cs typeface="DM Sans"/>
              </a:rPr>
              <a:t>Assemble XLSForm-ready survey, choice, and settings sheets.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45920" y="4023360"/>
            <a:ext cx="9601200" cy="13716"/>
          </a:xfrm>
          <a:prstGeom prst="rect">
            <a:avLst/>
          </a:prstGeom>
          <a:solidFill>
            <a:srgbClr val="D0D4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114800"/>
            <a:ext cx="1005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D4F00"/>
                </a:solidFill>
                <a:latin typeface="Source Serif 4"/>
                <a:ea typeface="Source Serif 4"/>
                <a:cs typeface="Source Serif 4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1605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6121B"/>
                </a:solidFill>
                <a:latin typeface="Source Serif 4"/>
                <a:ea typeface="Source Serif 4"/>
                <a:cs typeface="Source Serif 4"/>
              </a:rPr>
              <a:t>Validation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45262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5563"/>
                </a:solidFill>
                <a:latin typeface="DM Sans"/>
                <a:ea typeface="DM Sans"/>
                <a:cs typeface="DM Sans"/>
              </a:rPr>
              <a:t>Confirm builders are complete, filtered, and logically consistent.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45920" y="4983480"/>
            <a:ext cx="9601200" cy="13716"/>
          </a:xfrm>
          <a:prstGeom prst="rect">
            <a:avLst/>
          </a:prstGeom>
          <a:solidFill>
            <a:srgbClr val="D0D4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074920"/>
            <a:ext cx="1005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D4F00"/>
                </a:solidFill>
                <a:latin typeface="Source Serif 4"/>
                <a:ea typeface="Source Serif 4"/>
                <a:cs typeface="Source Serif 4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5920" y="512064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6121B"/>
                </a:solidFill>
                <a:latin typeface="Source Serif 4"/>
                <a:ea typeface="Source Serif 4"/>
                <a:cs typeface="Source Serif 4"/>
              </a:rPr>
              <a:t>Deployment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20" y="548640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5563"/>
                </a:solidFill>
                <a:latin typeface="DM Sans"/>
                <a:ea typeface="DM Sans"/>
                <a:cs typeface="DM Sans"/>
              </a:rPr>
              <a:t>Upload validated builders and update form versions in KoboToolbox.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0" y="-2011680"/>
            <a:ext cx="6400800" cy="6400800"/>
          </a:xfrm>
          <a:prstGeom prst="ellipse">
            <a:avLst/>
          </a:prstGeom>
          <a:solidFill>
            <a:srgbClr val="FBF0E8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286000" y="4114800"/>
            <a:ext cx="5943600" cy="5029200"/>
          </a:xfrm>
          <a:prstGeom prst="ellipse">
            <a:avLst/>
          </a:prstGeom>
          <a:solidFill>
            <a:srgbClr val="EEF0F4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61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620256"/>
            <a:ext cx="6400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3A0"/>
                </a:solidFill>
                <a:latin typeface="DM Sans"/>
                <a:ea typeface="DM Sans"/>
                <a:cs typeface="DM Sans"/>
              </a:rPr>
              <a:t>Mentee Mapping SOP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62025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B93A0"/>
                </a:solidFill>
                <a:latin typeface="DM Sans"/>
                <a:ea typeface="DM Sans"/>
                <a:cs typeface="DM Sans"/>
              </a:rPr>
              <a:t>8  · 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D4F00"/>
                </a:solidFill>
                <a:latin typeface="DM Sans"/>
                <a:ea typeface="DM Sans"/>
                <a:cs typeface="DM Sans"/>
              </a:rPr>
              <a:t>STEP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75488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6121B"/>
                </a:solidFill>
                <a:latin typeface="Source Serif 4"/>
                <a:ea typeface="Source Serif 4"/>
                <a:cs typeface="Source Serif 4"/>
              </a:rPr>
              <a:t>Syncing of Mentor-Mentee Database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18872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D4F00"/>
                </a:solidFill>
                <a:latin typeface="Source Serif 4"/>
                <a:ea typeface="Source Serif 4"/>
                <a:cs typeface="Source Serif 4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188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121B"/>
                </a:solidFill>
                <a:latin typeface="Source Serif 4"/>
                <a:ea typeface="Source Serif 4"/>
                <a:cs typeface="Source Serif 4"/>
              </a:rPr>
              <a:t>Pull latest records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15544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5563"/>
                </a:solidFill>
                <a:latin typeface="DM Sans"/>
                <a:ea typeface="DM Sans"/>
                <a:cs typeface="DM Sans"/>
              </a:rPr>
              <a:t>Bring the newest mentee and IFM records into the spreadsheet.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10312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D4F00"/>
                </a:solidFill>
                <a:latin typeface="Source Serif 4"/>
                <a:ea typeface="Source Serif 4"/>
                <a:cs typeface="Source Serif 4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1031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121B"/>
                </a:solidFill>
                <a:latin typeface="Source Serif 4"/>
                <a:ea typeface="Source Serif 4"/>
                <a:cs typeface="Source Serif 4"/>
              </a:rPr>
              <a:t>Clean for Kobo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468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5563"/>
                </a:solidFill>
                <a:latin typeface="DM Sans"/>
                <a:ea typeface="DM Sans"/>
                <a:cs typeface="DM Sans"/>
              </a:rPr>
              <a:t>Clean names, IDs, counties, and facilities for Kobo compatibility.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01752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D4F00"/>
                </a:solidFill>
                <a:latin typeface="Source Serif 4"/>
                <a:ea typeface="Source Serif 4"/>
                <a:cs typeface="Source Serif 4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017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121B"/>
                </a:solidFill>
                <a:latin typeface="Source Serif 4"/>
                <a:ea typeface="Source Serif 4"/>
                <a:cs typeface="Source Serif 4"/>
              </a:rPr>
              <a:t>Normalize values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3832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5563"/>
                </a:solidFill>
                <a:latin typeface="DM Sans"/>
                <a:ea typeface="DM Sans"/>
                <a:cs typeface="DM Sans"/>
              </a:rPr>
              <a:t>Normalize status (Active / Inactive) and program (MENTORS, Newborn, Both).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93192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D4F00"/>
                </a:solidFill>
                <a:latin typeface="Source Serif 4"/>
                <a:ea typeface="Source Serif 4"/>
                <a:cs typeface="Source Serif 4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39319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121B"/>
                </a:solidFill>
                <a:latin typeface="Source Serif 4"/>
                <a:ea typeface="Source Serif 4"/>
                <a:cs typeface="Source Serif 4"/>
              </a:rPr>
              <a:t>Drop incomplete rows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2976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5563"/>
                </a:solidFill>
                <a:latin typeface="DM Sans"/>
                <a:ea typeface="DM Sans"/>
                <a:cs typeface="DM Sans"/>
              </a:rPr>
              <a:t>Remove rows missing ID, name, county, facility, or facility code.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84632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D4F00"/>
                </a:solidFill>
                <a:latin typeface="Source Serif 4"/>
                <a:ea typeface="Source Serif 4"/>
                <a:cs typeface="Source Serif 4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846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121B"/>
                </a:solidFill>
                <a:latin typeface="Source Serif 4"/>
                <a:ea typeface="Source Serif 4"/>
                <a:cs typeface="Source Serif 4"/>
              </a:rPr>
              <a:t>Deduplicate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52120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5563"/>
                </a:solidFill>
                <a:latin typeface="DM Sans"/>
                <a:ea typeface="DM Sans"/>
                <a:cs typeface="DM Sans"/>
              </a:rPr>
              <a:t>Deduplicate facility–program–status combinations before any sheet is built.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0" y="-2011680"/>
            <a:ext cx="6400800" cy="6400800"/>
          </a:xfrm>
          <a:prstGeom prst="ellipse">
            <a:avLst/>
          </a:prstGeom>
          <a:solidFill>
            <a:srgbClr val="FBF0E8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286000" y="4114800"/>
            <a:ext cx="5943600" cy="5029200"/>
          </a:xfrm>
          <a:prstGeom prst="ellipse">
            <a:avLst/>
          </a:prstGeom>
          <a:solidFill>
            <a:srgbClr val="EEF0F4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61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620256"/>
            <a:ext cx="6400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3A0"/>
                </a:solidFill>
                <a:latin typeface="DM Sans"/>
                <a:ea typeface="DM Sans"/>
                <a:cs typeface="DM Sans"/>
              </a:rPr>
              <a:t>Mentee Mapping SOP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62025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B93A0"/>
                </a:solidFill>
                <a:latin typeface="DM Sans"/>
                <a:ea typeface="DM Sans"/>
                <a:cs typeface="DM Sans"/>
              </a:rPr>
              <a:t>9  · 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D4F00"/>
                </a:solidFill>
                <a:latin typeface="DM Sans"/>
                <a:ea typeface="DM Sans"/>
                <a:cs typeface="DM Sans"/>
              </a:rPr>
              <a:t>STEP 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75488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6121B"/>
                </a:solidFill>
                <a:latin typeface="Source Serif 4"/>
                <a:ea typeface="Source Serif 4"/>
                <a:cs typeface="Source Serif 4"/>
              </a:rPr>
              <a:t>Constructing Kobo Building Blocks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34440"/>
            <a:ext cx="3611880" cy="54864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63040"/>
            <a:ext cx="3611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121B"/>
                </a:solidFill>
                <a:latin typeface="Source Serif 4"/>
                <a:ea typeface="Source Serif 4"/>
                <a:cs typeface="Source Serif 4"/>
              </a:rPr>
              <a:t>Survey sheets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057400"/>
            <a:ext cx="3611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1A222C"/>
                </a:solidFill>
                <a:latin typeface="DM Sans"/>
                <a:ea typeface="DM Sans"/>
                <a:cs typeface="DM Sans"/>
              </a:rPr>
              <a:t>•  type, name, label, hint</a:t>
            </a:r>
          </a:p>
          <a:p>
            <a:pPr algn="l">
              <a:spcBef>
                <a:spcPts val="1200"/>
              </a:spcBef>
              <a:spcAft>
                <a:spcPts val="200"/>
              </a:spcAft>
            </a:pPr>
            <a:r>
              <a:rPr sz="1400" b="0">
                <a:solidFill>
                  <a:srgbClr val="1A222C"/>
                </a:solidFill>
                <a:latin typeface="DM Sans"/>
                <a:ea typeface="DM Sans"/>
                <a:cs typeface="DM Sans"/>
              </a:rPr>
              <a:t>•  required &amp; required_message</a:t>
            </a:r>
          </a:p>
          <a:p>
            <a:pPr algn="l">
              <a:spcBef>
                <a:spcPts val="1200"/>
              </a:spcBef>
              <a:spcAft>
                <a:spcPts val="200"/>
              </a:spcAft>
            </a:pPr>
            <a:r>
              <a:rPr sz="1400" b="0">
                <a:solidFill>
                  <a:srgbClr val="1A222C"/>
                </a:solidFill>
                <a:latin typeface="DM Sans"/>
                <a:ea typeface="DM Sans"/>
                <a:cs typeface="DM Sans"/>
              </a:rPr>
              <a:t>•  constraint &amp; constraint_message</a:t>
            </a:r>
          </a:p>
          <a:p>
            <a:pPr algn="l">
              <a:spcBef>
                <a:spcPts val="1200"/>
              </a:spcBef>
              <a:spcAft>
                <a:spcPts val="200"/>
              </a:spcAft>
            </a:pPr>
            <a:r>
              <a:rPr sz="1400" b="0">
                <a:solidFill>
                  <a:srgbClr val="1A222C"/>
                </a:solidFill>
                <a:latin typeface="DM Sans"/>
                <a:ea typeface="DM Sans"/>
                <a:cs typeface="DM Sans"/>
              </a:rPr>
              <a:t>•  relevant / skip logic</a:t>
            </a:r>
          </a:p>
          <a:p>
            <a:pPr algn="l">
              <a:spcBef>
                <a:spcPts val="1200"/>
              </a:spcBef>
              <a:spcAft>
                <a:spcPts val="200"/>
              </a:spcAft>
            </a:pPr>
            <a:r>
              <a:rPr sz="1400" b="0">
                <a:solidFill>
                  <a:srgbClr val="1A222C"/>
                </a:solidFill>
                <a:latin typeface="DM Sans"/>
                <a:ea typeface="DM Sans"/>
                <a:cs typeface="DM Sans"/>
              </a:rPr>
              <a:t>•  choice_filter &amp; calculation</a:t>
            </a:r>
          </a:p>
          <a:p>
            <a:pPr algn="l">
              <a:spcBef>
                <a:spcPts val="1200"/>
              </a:spcBef>
              <a:spcAft>
                <a:spcPts val="200"/>
              </a:spcAft>
            </a:pPr>
            <a:r>
              <a:rPr sz="1400" b="0">
                <a:solidFill>
                  <a:srgbClr val="1A222C"/>
                </a:solidFill>
                <a:latin typeface="DM Sans"/>
                <a:ea typeface="DM Sans"/>
                <a:cs typeface="DM Sans"/>
              </a:rPr>
              <a:t>•  appearance (e.g. tables)</a:t>
            </a:r>
          </a:p>
          <a:p>
            <a:pPr algn="l">
              <a:spcBef>
                <a:spcPts val="1200"/>
              </a:spcBef>
              <a:spcAft>
                <a:spcPts val="200"/>
              </a:spcAft>
            </a:pPr>
            <a:r>
              <a:rPr sz="1400" b="0">
                <a:solidFill>
                  <a:srgbClr val="1A222C"/>
                </a:solidFill>
                <a:latin typeface="DM Sans"/>
                <a:ea typeface="DM Sans"/>
                <a:cs typeface="DM Sans"/>
              </a:rPr>
              <a:t>•  enumerator notes / parameters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1234440"/>
            <a:ext cx="3611880" cy="54864"/>
          </a:xfrm>
          <a:prstGeom prst="rect">
            <a:avLst/>
          </a:prstGeom>
          <a:solidFill>
            <a:srgbClr val="7478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1463040"/>
            <a:ext cx="3611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121B"/>
                </a:solidFill>
                <a:latin typeface="Source Serif 4"/>
                <a:ea typeface="Source Serif 4"/>
                <a:cs typeface="Source Serif 4"/>
              </a:rPr>
              <a:t>Choice sheets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2057400"/>
            <a:ext cx="3611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1A222C"/>
                </a:solidFill>
                <a:latin typeface="DM Sans"/>
                <a:ea typeface="DM Sans"/>
                <a:cs typeface="DM Sans"/>
              </a:rPr>
              <a:t>•  list_name</a:t>
            </a:r>
          </a:p>
          <a:p>
            <a:pPr algn="l">
              <a:spcBef>
                <a:spcPts val="1200"/>
              </a:spcBef>
              <a:spcAft>
                <a:spcPts val="200"/>
              </a:spcAft>
            </a:pPr>
            <a:r>
              <a:rPr sz="1400" b="0">
                <a:solidFill>
                  <a:srgbClr val="1A222C"/>
                </a:solidFill>
                <a:latin typeface="DM Sans"/>
                <a:ea typeface="DM Sans"/>
                <a:cs typeface="DM Sans"/>
              </a:rPr>
              <a:t>•  name</a:t>
            </a:r>
          </a:p>
          <a:p>
            <a:pPr algn="l">
              <a:spcBef>
                <a:spcPts val="1200"/>
              </a:spcBef>
              <a:spcAft>
                <a:spcPts val="200"/>
              </a:spcAft>
            </a:pPr>
            <a:r>
              <a:rPr sz="1400" b="0">
                <a:solidFill>
                  <a:srgbClr val="1A222C"/>
                </a:solidFill>
                <a:latin typeface="DM Sans"/>
                <a:ea typeface="DM Sans"/>
                <a:cs typeface="DM Sans"/>
              </a:rPr>
              <a:t>•  label</a:t>
            </a:r>
          </a:p>
          <a:p>
            <a:pPr algn="l">
              <a:spcBef>
                <a:spcPts val="1200"/>
              </a:spcBef>
              <a:spcAft>
                <a:spcPts val="200"/>
              </a:spcAft>
            </a:pPr>
            <a:r>
              <a:rPr sz="1400" b="0">
                <a:solidFill>
                  <a:srgbClr val="1A222C"/>
                </a:solidFill>
                <a:latin typeface="DM Sans"/>
                <a:ea typeface="DM Sans"/>
                <a:cs typeface="DM Sans"/>
              </a:rPr>
              <a:t>•  choice_filter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83880" y="1234440"/>
            <a:ext cx="3611880" cy="54864"/>
          </a:xfrm>
          <a:prstGeom prst="rect">
            <a:avLst/>
          </a:prstGeom>
          <a:solidFill>
            <a:srgbClr val="2E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80" y="1463040"/>
            <a:ext cx="3611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121B"/>
                </a:solidFill>
                <a:latin typeface="Source Serif 4"/>
                <a:ea typeface="Source Serif 4"/>
                <a:cs typeface="Source Serif 4"/>
              </a:rPr>
              <a:t>Settings sheets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2057400"/>
            <a:ext cx="3611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1A222C"/>
                </a:solidFill>
                <a:latin typeface="DM Sans"/>
                <a:ea typeface="DM Sans"/>
                <a:cs typeface="DM Sans"/>
              </a:rPr>
              <a:t>•  allow_choice_duplicates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0" y="-2011680"/>
            <a:ext cx="6400800" cy="6400800"/>
          </a:xfrm>
          <a:prstGeom prst="ellipse">
            <a:avLst/>
          </a:prstGeom>
          <a:solidFill>
            <a:srgbClr val="FBF0E8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286000" y="4114800"/>
            <a:ext cx="5943600" cy="5029200"/>
          </a:xfrm>
          <a:prstGeom prst="ellipse">
            <a:avLst/>
          </a:prstGeom>
          <a:solidFill>
            <a:srgbClr val="EEF0F4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61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620256"/>
            <a:ext cx="6400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3A0"/>
                </a:solidFill>
                <a:latin typeface="DM Sans"/>
                <a:ea typeface="DM Sans"/>
                <a:cs typeface="DM Sans"/>
              </a:rPr>
              <a:t>Mentee Mapping SOP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62025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B93A0"/>
                </a:solidFill>
                <a:latin typeface="DM Sans"/>
                <a:ea typeface="DM Sans"/>
                <a:cs typeface="DM Sans"/>
              </a:rPr>
              <a:t>10  · 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D4F00"/>
                </a:solidFill>
                <a:latin typeface="DM Sans"/>
                <a:ea typeface="DM Sans"/>
                <a:cs typeface="DM Sans"/>
              </a:rPr>
              <a:t>STEP 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75488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6121B"/>
                </a:solidFill>
                <a:latin typeface="Source Serif 4"/>
                <a:ea typeface="Source Serif 4"/>
                <a:cs typeface="Source Serif 4"/>
              </a:rPr>
              <a:t>Construction of Kobo Tool Form Builders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00584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A5563"/>
                </a:solidFill>
                <a:latin typeface="DM Sans"/>
                <a:ea typeface="DM Sans"/>
                <a:cs typeface="DM Sans"/>
              </a:rPr>
              <a:t>Assemble XLSForm-ready survey, choice, and settings sheets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1600200"/>
            <a:ext cx="502920" cy="502920"/>
          </a:xfrm>
          <a:prstGeom prst="ellipse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69164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1664208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121B"/>
                </a:solidFill>
                <a:latin typeface="Source Serif 4"/>
                <a:ea typeface="Source Serif 4"/>
                <a:cs typeface="Source Serif 4"/>
              </a:rPr>
              <a:t>EmONC Curriculum Tracking Form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17320" y="2240280"/>
            <a:ext cx="9601200" cy="13716"/>
          </a:xfrm>
          <a:prstGeom prst="rect">
            <a:avLst/>
          </a:prstGeom>
          <a:solidFill>
            <a:srgbClr val="D0D4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2423160"/>
            <a:ext cx="502920" cy="502920"/>
          </a:xfrm>
          <a:prstGeom prst="ellipse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51460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2487168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121B"/>
                </a:solidFill>
                <a:latin typeface="Source Serif 4"/>
                <a:ea typeface="Source Serif 4"/>
                <a:cs typeface="Source Serif 4"/>
              </a:rPr>
              <a:t>Newborn Curriculum Tracking Form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17320" y="3063240"/>
            <a:ext cx="9601200" cy="13716"/>
          </a:xfrm>
          <a:prstGeom prst="rect">
            <a:avLst/>
          </a:prstGeom>
          <a:solidFill>
            <a:srgbClr val="D0D4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0080" y="3246120"/>
            <a:ext cx="502920" cy="502920"/>
          </a:xfrm>
          <a:prstGeom prst="ellipse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33756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3310128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121B"/>
                </a:solidFill>
                <a:latin typeface="Source Serif 4"/>
                <a:ea typeface="Source Serif 4"/>
                <a:cs typeface="Source Serif 4"/>
              </a:rPr>
              <a:t>MoH Skills Assessment Checklist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417320" y="3886200"/>
            <a:ext cx="9601200" cy="13716"/>
          </a:xfrm>
          <a:prstGeom prst="rect">
            <a:avLst/>
          </a:prstGeom>
          <a:solidFill>
            <a:srgbClr val="D0D4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0080" y="4069080"/>
            <a:ext cx="502920" cy="502920"/>
          </a:xfrm>
          <a:prstGeom prst="ellipse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16052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4133088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121B"/>
                </a:solidFill>
                <a:latin typeface="Source Serif 4"/>
                <a:ea typeface="Source Serif 4"/>
                <a:cs typeface="Source Serif 4"/>
              </a:rPr>
              <a:t>EmONC Knowledge Assessment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417320" y="4709160"/>
            <a:ext cx="9601200" cy="13716"/>
          </a:xfrm>
          <a:prstGeom prst="rect">
            <a:avLst/>
          </a:prstGeom>
          <a:solidFill>
            <a:srgbClr val="D0D4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0080" y="4892040"/>
            <a:ext cx="502920" cy="502920"/>
          </a:xfrm>
          <a:prstGeom prst="ellipse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98348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4956048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121B"/>
                </a:solidFill>
                <a:latin typeface="Source Serif 4"/>
                <a:ea typeface="Source Serif 4"/>
                <a:cs typeface="Source Serif 4"/>
              </a:rPr>
              <a:t>Newborn Knowledge Assessment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85216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A5563"/>
                </a:solidFill>
                <a:latin typeface="DM Sans"/>
                <a:ea typeface="DM Sans"/>
                <a:cs typeface="DM Sans"/>
              </a:rPr>
              <a:t>Each builder is generated from shared building blocks — consistent field logic across all tools.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0" y="-2011680"/>
            <a:ext cx="6400800" cy="6400800"/>
          </a:xfrm>
          <a:prstGeom prst="ellipse">
            <a:avLst/>
          </a:prstGeom>
          <a:solidFill>
            <a:srgbClr val="FBF0E8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286000" y="4114800"/>
            <a:ext cx="5943600" cy="5029200"/>
          </a:xfrm>
          <a:prstGeom prst="ellipse">
            <a:avLst/>
          </a:prstGeom>
          <a:solidFill>
            <a:srgbClr val="EEF0F4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61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620256"/>
            <a:ext cx="6400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3A0"/>
                </a:solidFill>
                <a:latin typeface="DM Sans"/>
                <a:ea typeface="DM Sans"/>
                <a:cs typeface="DM Sans"/>
              </a:rPr>
              <a:t>Mentee Mapping SOP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62025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B93A0"/>
                </a:solidFill>
                <a:latin typeface="DM Sans"/>
                <a:ea typeface="DM Sans"/>
                <a:cs typeface="DM Sans"/>
              </a:rPr>
              <a:t>11  · 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D4F00"/>
                </a:solidFill>
                <a:latin typeface="DM Sans"/>
                <a:ea typeface="DM Sans"/>
                <a:cs typeface="DM Sans"/>
              </a:rPr>
              <a:t>STEP 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75488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6121B"/>
                </a:solidFill>
                <a:latin typeface="Source Serif 4"/>
                <a:ea typeface="Source Serif 4"/>
                <a:cs typeface="Source Serif 4"/>
              </a:rPr>
              <a:t>Validation of Kobo Form Builders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14300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D4F00"/>
                </a:solidFill>
                <a:latin typeface="Source Serif 4"/>
                <a:ea typeface="Source Serif 4"/>
                <a:cs typeface="Source Serif 4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18872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2C"/>
                </a:solidFill>
                <a:latin typeface="DM Sans"/>
                <a:ea typeface="DM Sans"/>
                <a:cs typeface="DM Sans"/>
              </a:rPr>
              <a:t>Confirm only Active (and correctly programmed) records appear in mentee / survey builders.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82880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D4F00"/>
                </a:solidFill>
                <a:latin typeface="Source Serif 4"/>
                <a:ea typeface="Source Serif 4"/>
                <a:cs typeface="Source Serif 4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187452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2C"/>
                </a:solidFill>
                <a:latin typeface="DM Sans"/>
                <a:ea typeface="DM Sans"/>
                <a:cs typeface="DM Sans"/>
              </a:rPr>
              <a:t>Spot-check relevance / skip logic against field names.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51460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D4F00"/>
                </a:solidFill>
                <a:latin typeface="Source Serif 4"/>
                <a:ea typeface="Source Serif 4"/>
                <a:cs typeface="Source Serif 4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56032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2C"/>
                </a:solidFill>
                <a:latin typeface="DM Sans"/>
                <a:ea typeface="DM Sans"/>
                <a:cs typeface="DM Sans"/>
              </a:rPr>
              <a:t>Verify choice fields match survey sheet fields (select_one / select_multiple).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20040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D4F00"/>
                </a:solidFill>
                <a:latin typeface="Source Serif 4"/>
                <a:ea typeface="Source Serif 4"/>
                <a:cs typeface="Source Serif 4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24612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2C"/>
                </a:solidFill>
                <a:latin typeface="DM Sans"/>
                <a:ea typeface="DM Sans"/>
                <a:cs typeface="DM Sans"/>
              </a:rPr>
              <a:t>Review required fields and choice-filter logic for functionality and errors.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88620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D4F00"/>
                </a:solidFill>
                <a:latin typeface="Source Serif 4"/>
                <a:ea typeface="Source Serif 4"/>
                <a:cs typeface="Source Serif 4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93192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2C"/>
                </a:solidFill>
                <a:latin typeface="DM Sans"/>
                <a:ea typeface="DM Sans"/>
                <a:cs typeface="DM Sans"/>
              </a:rPr>
              <a:t>Review required messages, notes, and hints on survey sheets.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57200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D4F00"/>
                </a:solidFill>
                <a:latin typeface="Source Serif 4"/>
                <a:ea typeface="Source Serif 4"/>
                <a:cs typeface="Source Serif 4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61772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2C"/>
                </a:solidFill>
                <a:latin typeface="DM Sans"/>
                <a:ea typeface="DM Sans"/>
                <a:cs typeface="DM Sans"/>
              </a:rPr>
              <a:t>Review hide logic — sections appear only after required fields are filled.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25780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D4F00"/>
                </a:solidFill>
                <a:latin typeface="Source Serif 4"/>
                <a:ea typeface="Source Serif 4"/>
                <a:cs typeface="Source Serif 4"/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530352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2C"/>
                </a:solidFill>
                <a:latin typeface="DM Sans"/>
                <a:ea typeface="DM Sans"/>
                <a:cs typeface="DM Sans"/>
              </a:rPr>
              <a:t>Confirm no duplicate facility fields, mentees, or IFMs in choice sheets.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0" y="-2011680"/>
            <a:ext cx="6400800" cy="6400800"/>
          </a:xfrm>
          <a:prstGeom prst="ellipse">
            <a:avLst/>
          </a:prstGeom>
          <a:solidFill>
            <a:srgbClr val="FBF0E8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286000" y="4114800"/>
            <a:ext cx="5943600" cy="5029200"/>
          </a:xfrm>
          <a:prstGeom prst="ellipse">
            <a:avLst/>
          </a:prstGeom>
          <a:solidFill>
            <a:srgbClr val="EEF0F4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61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620256"/>
            <a:ext cx="6400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B93A0"/>
                </a:solidFill>
                <a:latin typeface="DM Sans"/>
                <a:ea typeface="DM Sans"/>
                <a:cs typeface="DM Sans"/>
              </a:rPr>
              <a:t>Mentee Mapping SOP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62025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B93A0"/>
                </a:solidFill>
                <a:latin typeface="DM Sans"/>
                <a:ea typeface="DM Sans"/>
                <a:cs typeface="DM Sans"/>
              </a:rPr>
              <a:t>12  · 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6121B"/>
                </a:solidFill>
                <a:latin typeface="Source Serif 4"/>
                <a:ea typeface="Source Serif 4"/>
                <a:cs typeface="Source Serif 4"/>
              </a:rPr>
              <a:t>Why a mentee / mentor / facility may be missing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786384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A5563"/>
                </a:solidFill>
                <a:latin typeface="DM Sans"/>
                <a:ea typeface="DM Sans"/>
                <a:cs typeface="DM Sans"/>
              </a:rPr>
              <a:t>Common exclusion reasons when generating Kobo tools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143000"/>
            <a:ext cx="3657600" cy="54864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325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6121B"/>
                </a:solidFill>
                <a:latin typeface="Source Serif 4"/>
                <a:ea typeface="Source Serif 4"/>
                <a:cs typeface="Source Serif 4"/>
              </a:rPr>
              <a:t>Mentee identity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87451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22C"/>
                </a:solidFill>
                <a:latin typeface="DM Sans"/>
                <a:ea typeface="DM Sans"/>
                <a:cs typeface="DM Sans"/>
              </a:rPr>
              <a:t>Invalid mentee_id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2240279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A5563"/>
                </a:solidFill>
                <a:latin typeface="DM Sans"/>
                <a:ea typeface="DM Sans"/>
                <a:cs typeface="DM Sans"/>
              </a:rPr>
              <a:t>Missing, wrong format (2547… / 07…), spaces, &lt;9 digits, or not starting with 1 or 7.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2918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22C"/>
                </a:solidFill>
                <a:latin typeface="DM Sans"/>
                <a:ea typeface="DM Sans"/>
                <a:cs typeface="DM Sans"/>
              </a:rPr>
              <a:t>Inactive mentees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3657599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A5563"/>
                </a:solidFill>
                <a:latin typeface="DM Sans"/>
                <a:ea typeface="DM Sans"/>
                <a:cs typeface="DM Sans"/>
              </a:rPr>
              <a:t>Status is Inactive or blank, or date_activated is blank.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470915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22C"/>
                </a:solidFill>
                <a:latin typeface="DM Sans"/>
                <a:ea typeface="DM Sans"/>
                <a:cs typeface="DM Sans"/>
              </a:rPr>
              <a:t>Missing from source DBs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5074919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A5563"/>
                </a:solidFill>
                <a:latin typeface="DM Sans"/>
                <a:ea typeface="DM Sans"/>
                <a:cs typeface="DM Sans"/>
              </a:rPr>
              <a:t>Absent from Mentee Database or IFM Database.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97680" y="1143000"/>
            <a:ext cx="3657600" cy="54864"/>
          </a:xfrm>
          <a:prstGeom prst="rect">
            <a:avLst/>
          </a:prstGeom>
          <a:solidFill>
            <a:srgbClr val="7478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97680" y="1325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6121B"/>
                </a:solidFill>
                <a:latin typeface="Source Serif 4"/>
                <a:ea typeface="Source Serif 4"/>
                <a:cs typeface="Source Serif 4"/>
              </a:rPr>
              <a:t>Program flags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187451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22C"/>
                </a:solidFill>
                <a:latin typeface="DM Sans"/>
                <a:ea typeface="DM Sans"/>
                <a:cs typeface="DM Sans"/>
              </a:rPr>
              <a:t>Wrong Program value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2240279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A5563"/>
                </a:solidFill>
                <a:latin typeface="DM Sans"/>
                <a:ea typeface="DM Sans"/>
                <a:cs typeface="DM Sans"/>
              </a:rPr>
              <a:t>e.g. Newborn when they should be EmONC or Both.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32918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22C"/>
                </a:solidFill>
                <a:latin typeface="DM Sans"/>
                <a:ea typeface="DM Sans"/>
                <a:cs typeface="DM Sans"/>
              </a:rPr>
              <a:t>EmONC In-person = No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3657599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A5563"/>
                </a:solidFill>
                <a:latin typeface="DM Sans"/>
                <a:ea typeface="DM Sans"/>
                <a:cs typeface="DM Sans"/>
              </a:rPr>
              <a:t>EmONC mentee flagged as not doing in-person EmONC.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470915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22C"/>
                </a:solidFill>
                <a:latin typeface="DM Sans"/>
                <a:ea typeface="DM Sans"/>
                <a:cs typeface="DM Sans"/>
              </a:rPr>
              <a:t>Newborn flags wrong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5074919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A5563"/>
                </a:solidFill>
                <a:latin typeface="DM Sans"/>
                <a:ea typeface="DM Sans"/>
                <a:cs typeface="DM Sans"/>
              </a:rPr>
              <a:t>Essential &amp; Comprehensive Newborn both blank/No → allowed = Error!.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83880" y="1143000"/>
            <a:ext cx="3657600" cy="54864"/>
          </a:xfrm>
          <a:prstGeom prst="rect">
            <a:avLst/>
          </a:prstGeom>
          <a:solidFill>
            <a:srgbClr val="2E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83880" y="1325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6121B"/>
                </a:solidFill>
                <a:latin typeface="Source Serif 4"/>
                <a:ea typeface="Source Serif 4"/>
                <a:cs typeface="Source Serif 4"/>
              </a:rPr>
              <a:t>Facility data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80" y="187451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22C"/>
                </a:solidFill>
                <a:latin typeface="DM Sans"/>
                <a:ea typeface="DM Sans"/>
                <a:cs typeface="DM Sans"/>
              </a:rPr>
              <a:t>Facility name typos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3880" y="2240279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A5563"/>
                </a:solidFill>
                <a:latin typeface="DM Sans"/>
                <a:ea typeface="DM Sans"/>
                <a:cs typeface="DM Sans"/>
              </a:rPr>
              <a:t>Inconsistent spelling (Centre vs Center) breaks list_name / relevance.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80" y="32918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22C"/>
                </a:solidFill>
                <a:latin typeface="DM Sans"/>
                <a:ea typeface="DM Sans"/>
                <a:cs typeface="DM Sans"/>
              </a:rPr>
              <a:t>Invalid Facility Code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3657599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A5563"/>
                </a:solidFill>
                <a:latin typeface="DM Sans"/>
                <a:ea typeface="DM Sans"/>
                <a:cs typeface="DM Sans"/>
              </a:rPr>
              <a:t>Reused codes (e.g. two sites coded 10157) — one dropped as duplicate.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83880" y="470915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22C"/>
                </a:solidFill>
                <a:latin typeface="DM Sans"/>
                <a:ea typeface="DM Sans"/>
                <a:cs typeface="DM Sans"/>
              </a:rPr>
              <a:t>Code / name mismatch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83880" y="5074919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A5563"/>
                </a:solidFill>
                <a:latin typeface="DM Sans"/>
                <a:ea typeface="DM Sans"/>
                <a:cs typeface="DM Sans"/>
              </a:rPr>
              <a:t>Facility code blank or belonging to another site.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828800"/>
            <a:ext cx="6400800" cy="6400800"/>
          </a:xfrm>
          <a:prstGeom prst="ellipse">
            <a:avLst/>
          </a:prstGeom>
          <a:solidFill>
            <a:srgbClr val="2E3545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743200" y="4114800"/>
            <a:ext cx="5486400" cy="5486400"/>
          </a:xfrm>
          <a:prstGeom prst="ellipse">
            <a:avLst/>
          </a:prstGeom>
          <a:solidFill>
            <a:srgbClr val="0C1C28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D4F00"/>
                </a:solidFill>
                <a:latin typeface="DM Sans"/>
                <a:ea typeface="DM Sans"/>
                <a:cs typeface="DM Sans"/>
              </a:rPr>
              <a:t>STEP 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060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Source Serif 4"/>
                <a:ea typeface="Source Serif 4"/>
                <a:cs typeface="Source Serif 4"/>
              </a:rPr>
              <a:t>Deployment of Kobo Form Builder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657600"/>
            <a:ext cx="1280160" cy="64008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931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A9AEFF"/>
                </a:solidFill>
                <a:latin typeface="DM Sans"/>
                <a:ea typeface="DM Sans"/>
                <a:cs typeface="DM Sans"/>
              </a:rPr>
              <a:t>Upload validated builders and update form versions in KoboToolbox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989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3A0"/>
                </a:solidFill>
                <a:latin typeface="DM Sans"/>
                <a:ea typeface="DM Sans"/>
                <a:cs typeface="DM Sans"/>
              </a:rPr>
              <a:t>13  · 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828800"/>
            <a:ext cx="6400800" cy="6400800"/>
          </a:xfrm>
          <a:prstGeom prst="ellipse">
            <a:avLst/>
          </a:prstGeom>
          <a:solidFill>
            <a:srgbClr val="2E3545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743200" y="4114800"/>
            <a:ext cx="5486400" cy="5486400"/>
          </a:xfrm>
          <a:prstGeom prst="ellipse">
            <a:avLst/>
          </a:prstGeom>
          <a:solidFill>
            <a:srgbClr val="0C1C28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D4F00"/>
                </a:solidFill>
                <a:latin typeface="DM Sans"/>
                <a:ea typeface="DM Sans"/>
                <a:cs typeface="DM Sans"/>
              </a:rPr>
              <a:t>LOOKING AHEAD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060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Source Serif 4"/>
                <a:ea typeface="Source Serif 4"/>
                <a:cs typeface="Source Serif 4"/>
              </a:rPr>
              <a:t>Mentee Mapping in Future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657600"/>
            <a:ext cx="1280160" cy="64008"/>
          </a:xfrm>
          <a:prstGeom prst="rect">
            <a:avLst/>
          </a:prstGeom>
          <a:solidFill>
            <a:srgbClr val="FD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931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A9AEFF"/>
                </a:solidFill>
                <a:latin typeface="DM Sans"/>
                <a:ea typeface="DM Sans"/>
                <a:cs typeface="DM Sans"/>
              </a:rPr>
              <a:t>IFM-led mentee mapping using a dedicated Kobo tool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989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3A0"/>
                </a:solidFill>
                <a:latin typeface="DM Sans"/>
                <a:ea typeface="DM Sans"/>
                <a:cs typeface="DM Sans"/>
              </a:rPr>
              <a:t>14  · 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