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MENTORS  · 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Estimate
to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0CB"/>
                </a:solidFill>
                <a:latin typeface="DM Sans"/>
                <a:ea typeface="DM Sans"/>
                <a:cs typeface="DM Sans"/>
              </a:rPr>
              <a:t>How mentee mapping moved from facility guesses
to a living Kobo pin for every HCW.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Jacaranda Health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Where we came 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02/14</a:t>
            </a:r>
          </a:p>
        </p:txBody>
      </p:sp>
    </p:spTree>
    <p:bldLst>
      <p:bldP spid="3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fac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2018 —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We counted
the building.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A CME in a facility meant every HCW there was “trained.”</a:t>
            </a:r>
          </a:p>
          <a:p>
            <a:pPr>
              <a:spcBef>
                <a:spcPts val="1600"/>
              </a:spcBef>
            </a:pPr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7,441 HCWs — an estimate from maternity-wing headcount.</a:t>
            </a:r>
          </a:p>
          <a:p>
            <a:pPr>
              <a:spcBef>
                <a:spcPts val="1600"/>
              </a:spcBef>
            </a:pPr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Attrition made the number look better than the truth.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03/14</a:t>
            </a:r>
          </a:p>
        </p:txBody>
      </p:sp>
    </p:spTree>
    <p:bldLst>
      <p:bldP spid="3" grpId="0" animBg="1"/>
      <p:bldP spid="4" grpId="0" animBg="1"/>
      <p:bldP spid="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We typed
the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Facility → name → phone (mentee_id) → activities.</a:t>
            </a:r>
          </a:p>
          <a:p>
            <a:pPr>
              <a:spcBef>
                <a:spcPts val="1600"/>
              </a:spcBef>
            </a:pPr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Better than assumptions. Still memory-bound.</a:t>
            </a:r>
          </a:p>
          <a:p>
            <a:pPr>
              <a:spcBef>
                <a:spcPts val="1600"/>
              </a:spcBef>
            </a:pPr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Mistyped phones broke the unique key.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04/14</a:t>
            </a:r>
          </a:p>
        </p:txBody>
      </p:sp>
    </p:spTree>
    <p:bldLst>
      <p:bldP spid="3" grpId="0" animBg="1"/>
      <p:bldP spid="4" grpId="0" animBg="1"/>
      <p:bldP spid="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p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We preload
the 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POs register eligible HCWs on 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IFMs pick names in Kobo — no inventing.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WhatsApp joins in-person to DELTA.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Same mentee. In person, hybrid, or DELTA.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05/14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What broke the old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No mentee-level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Facilities can’t tell you who was mentored.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Field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Typed phones and names drifted under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Manual preload 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Quality rose. Keeping tools current did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Attrition 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Inactive people haunted the forms.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06/14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How the tools stay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Database → fragments → builders → proof →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74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01 Sync — clean source of truth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02 Blocks · 03 Build · 04 Check · 05 Ship — one grammar across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07/14</a:t>
            </a:r>
          </a:p>
        </p:txBody>
      </p:sp>
    </p:spTree>
    <p:bldLst>
      <p:bldP spid="3" grpId="0" animBg="1"/>
      <p:bldP spid="4" grpId="0" animBg="1"/>
      <p:bldP spid="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One sheet. No ghosts.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Latest mentee + IFM rows into the working sheet.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06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Names, IDs, counties, facilities — Kobo-safe.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Active / Inactive · MENTORS / Newborn / Both.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Missing ID, name, county, facility, or code — gone.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Dedupe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Facility–program–status before any builder runs.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08/14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Shared grammar.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0" cy="45720"/>
          </a:xfrm>
          <a:prstGeom prst="rect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type · name · label · hint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required / messages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relevant · constraint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calculation · choice_filter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appearance ·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640080" cy="45720"/>
          </a:xfrm>
          <a:prstGeom prst="rect">
            <a:avLst/>
          </a:prstGeom>
          <a:solidFill>
            <a:srgbClr val="24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Choices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list_name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name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label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choice_filter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640080" cy="45720"/>
          </a:xfrm>
          <a:prstGeom prst="rect">
            <a:avLst/>
          </a:prstGeom>
          <a:solidFill>
            <a:srgbClr val="24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allow_choice_duplicates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09/14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Five tools. One spine.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EmONC Curriculum Tracking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Newborn Curriculum Tracking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MoH Skills Assessment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605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EmONC Knowledge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37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Newborn Knowledge Assessment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10/14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FD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Prove it. Then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916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Active + correctly programmed records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Relevance matches field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80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Choices align with select_one / select_multiple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74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Required + choice filters behave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69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Messages and hints read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63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Hide logic waits for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5C4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57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C0E0D"/>
                </a:solidFill>
                <a:latin typeface="DM Sans"/>
                <a:ea typeface="DM Sans"/>
                <a:cs typeface="DM Sans"/>
              </a:rPr>
              <a:t>No duplicate facilities, mentees, or IFMs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11/14</a:t>
            </a:r>
          </a:p>
        </p:txBody>
      </p:sp>
    </p:spTree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0E0D"/>
                </a:solidFill>
                <a:latin typeface="Source Serif 4"/>
                <a:ea typeface="Source Serif 4"/>
                <a:cs typeface="Source Serif 4"/>
              </a:rPr>
              <a:t>When a pin doesn’t 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Invalid mentee_id (format, spaces, length, prefix)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Inactive / blank status or date_activated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Missing from Mentee or IFM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Wrong Program value (Newborn / EmONC / Both)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EmONC In-person = No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Both Newborn flags blank/No → Error!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Facility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Name typos break relevance (Centre/Center)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Reused facility codes — one dropped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6E7872"/>
                </a:solidFill>
                <a:latin typeface="DM Sans"/>
                <a:ea typeface="DM Sans"/>
                <a:cs typeface="DM Sans"/>
              </a:rPr>
              <a:t>·  Code blank or mapped to wrong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7872"/>
                </a:solidFill>
                <a:latin typeface="JetBrains Mono"/>
                <a:ea typeface="JetBrains Mono"/>
                <a:cs typeface="JetBrains Mono"/>
              </a:rPr>
              <a:t>12/14</a:t>
            </a:r>
          </a:p>
        </p:txBody>
      </p:sp>
    </p:spTree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286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Upload.
Version.
Release.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D0CB"/>
                </a:solidFill>
                <a:latin typeface="JetBrains Mono"/>
                <a:ea typeface="JetBrains Mono"/>
                <a:cs typeface="JetBrains Mono"/>
              </a:rPr>
              <a:t>13/14</a:t>
            </a:r>
          </a:p>
        </p:txBody>
      </p:sp>
    </p:spTree>
    <p:bldLst>
      <p:bldP spid="3" grpId="0" animBg="1"/>
      <p:bldP spid="4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4F00"/>
                </a:solidFill>
                <a:latin typeface="JetBrains Mono"/>
                <a:ea typeface="JetBrains Mono"/>
                <a:cs typeface="JetBrains Mono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erif 4"/>
                <a:ea typeface="Source Serif 4"/>
                <a:cs typeface="Source Serif 4"/>
              </a:rPr>
              <a:t>IFMs place the 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0CB"/>
                </a:solidFill>
                <a:latin typeface="DM Sans"/>
                <a:ea typeface="DM Sans"/>
                <a:cs typeface="DM Sans"/>
              </a:rPr>
              <a:t>A dedicated Kobo tool for facility-led mentee mapping —
where care happens.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92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D0CB"/>
                </a:solidFill>
                <a:latin typeface="JetBrains Mono"/>
                <a:ea typeface="JetBrains Mono"/>
                <a:cs typeface="JetBrains Mono"/>
              </a:rPr>
              <a:t>14/14</a:t>
            </a:r>
          </a:p>
        </p:txBody>
      </p:sp>
    </p:spTree>
    <p:bldLst>
      <p:bldP spid="3" grpId="0" animBg="1"/>
      <p:bldP spid="4" grpId="0" animBg="1"/>
      <p:bldP spid="5" grpId="0" animBg="1"/>
    </p:bld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